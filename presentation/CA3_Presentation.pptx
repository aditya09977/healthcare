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sh Raheja" userId="0343116cb2735489" providerId="LiveId" clId="{D2BC58EF-A0A9-4B9D-A40B-172E3387DB63}"/>
    <pc:docChg chg="custSel modSld">
      <pc:chgData name="Yesh Raheja" userId="0343116cb2735489" providerId="LiveId" clId="{D2BC58EF-A0A9-4B9D-A40B-172E3387DB63}" dt="2026-10-24T10:55:24.923" v="122" actId="255"/>
      <pc:docMkLst>
        <pc:docMk/>
      </pc:docMkLst>
      <pc:sldChg chg="delSp modSp mod">
        <pc:chgData name="Yesh Raheja" userId="0343116cb2735489" providerId="LiveId" clId="{D2BC58EF-A0A9-4B9D-A40B-172E3387DB63}" dt="2026-10-24T10:55:24.923" v="122" actId="255"/>
        <pc:sldMkLst>
          <pc:docMk/>
          <pc:sldMk cId="0" sldId="256"/>
        </pc:sldMkLst>
        <pc:spChg chg="mod">
          <ac:chgData name="Yesh Raheja" userId="0343116cb2735489" providerId="LiveId" clId="{D2BC58EF-A0A9-4B9D-A40B-172E3387DB63}" dt="2026-10-24T10:51:38.406" v="26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Yesh Raheja" userId="0343116cb2735489" providerId="LiveId" clId="{D2BC58EF-A0A9-4B9D-A40B-172E3387DB63}" dt="2026-10-24T10:55:24.923" v="122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Yesh Raheja" userId="0343116cb2735489" providerId="LiveId" clId="{D2BC58EF-A0A9-4B9D-A40B-172E3387DB63}" dt="2026-10-24T10:53:45.777" v="29" actId="1076"/>
          <ac:spMkLst>
            <pc:docMk/>
            <pc:sldMk cId="0" sldId="256"/>
            <ac:spMk id="11" creationId="{00000000-0000-0000-0000-000000000000}"/>
          </ac:spMkLst>
        </pc:spChg>
        <pc:spChg chg="del">
          <ac:chgData name="Yesh Raheja" userId="0343116cb2735489" providerId="LiveId" clId="{D2BC58EF-A0A9-4B9D-A40B-172E3387DB63}" dt="2026-10-24T10:53:42.855" v="28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Yesh Raheja" userId="0343116cb2735489" providerId="LiveId" clId="{D2BC58EF-A0A9-4B9D-A40B-172E3387DB63}" dt="2026-10-24T10:53:41.603" v="27" actId="478"/>
          <ac:spMkLst>
            <pc:docMk/>
            <pc:sldMk cId="0" sldId="256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56379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A87"/>
                </a:solidFill>
              </a:defRPr>
            </a:pPr>
            <a:r>
              <a:rPr dirty="0"/>
              <a:t> DEPARTMENT OF COMPUTER SCIENCE &amp;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8655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Healthcare Facility Financial and Resource Utilization</a:t>
            </a:r>
            <a:br>
              <a:rPr dirty="0"/>
            </a:br>
            <a:r>
              <a:rPr dirty="0"/>
              <a:t>Pattern Analysis Using Machine Learning</a:t>
            </a:r>
          </a:p>
          <a:p>
            <a:pPr>
              <a:spcBef>
                <a:spcPts val="1000"/>
              </a:spcBef>
              <a:defRPr sz="1400" b="1">
                <a:solidFill>
                  <a:srgbClr val="007A87"/>
                </a:solidFill>
              </a:defRPr>
            </a:pPr>
            <a:r>
              <a:rPr dirty="0"/>
              <a:t>CA3 Machine Learning Mini-Project  |  Tri-Algorithm Clustering, Empirical Benchmarking &amp; Decision Support</a:t>
            </a:r>
          </a:p>
          <a:p>
            <a:pPr>
              <a:spcBef>
                <a:spcPts val="600"/>
              </a:spcBef>
              <a:defRPr sz="1100">
                <a:solidFill>
                  <a:srgbClr val="BECDDC"/>
                </a:solidFill>
              </a:defRPr>
            </a:pPr>
            <a:r>
              <a:rPr sz="1400" dirty="0"/>
              <a:t>Rigorous unsupervised partitioning of 428 California healthcare facilities from multi-quarter state disclosures.</a:t>
            </a:r>
            <a:endParaRPr lang="en-IN" sz="1400" dirty="0"/>
          </a:p>
          <a:p>
            <a:pPr>
              <a:spcBef>
                <a:spcPts val="600"/>
              </a:spcBef>
              <a:defRPr sz="1100">
                <a:solidFill>
                  <a:srgbClr val="BECDDC"/>
                </a:solidFill>
              </a:defRPr>
            </a:pPr>
            <a:endParaRPr lang="en-IN" dirty="0"/>
          </a:p>
          <a:p>
            <a:pPr>
              <a:spcBef>
                <a:spcPts val="600"/>
              </a:spcBef>
              <a:defRPr sz="1100">
                <a:solidFill>
                  <a:srgbClr val="BECDDC"/>
                </a:solidFill>
              </a:defRPr>
            </a:pPr>
            <a:r>
              <a:rPr lang="en-IN" sz="1400" dirty="0"/>
              <a:t>Name: Yesh Raheja  PRN: 23070521174 &amp;</a:t>
            </a:r>
          </a:p>
          <a:p>
            <a:pPr>
              <a:spcBef>
                <a:spcPts val="600"/>
              </a:spcBef>
              <a:defRPr sz="1100">
                <a:solidFill>
                  <a:srgbClr val="BECDDC"/>
                </a:solidFill>
              </a:defRPr>
            </a:pPr>
            <a:r>
              <a:rPr lang="en-IN" sz="1400" dirty="0"/>
              <a:t>Name: Aditya </a:t>
            </a:r>
            <a:r>
              <a:rPr lang="en-IN" sz="1400" dirty="0" err="1"/>
              <a:t>Gurve</a:t>
            </a:r>
            <a:r>
              <a:rPr lang="en-IN" sz="1400" dirty="0"/>
              <a:t>  PRN :23070521231</a:t>
            </a:r>
            <a:endParaRPr sz="1400" dirty="0"/>
          </a:p>
        </p:txBody>
      </p:sp>
      <p:sp>
        <p:nvSpPr>
          <p:cNvPr id="6" name="Rectangle 5"/>
          <p:cNvSpPr/>
          <p:nvPr/>
        </p:nvSpPr>
        <p:spPr>
          <a:xfrm>
            <a:off x="731520" y="4160520"/>
            <a:ext cx="2542032" cy="2057400"/>
          </a:xfrm>
          <a:prstGeom prst="rect">
            <a:avLst/>
          </a:prstGeom>
          <a:solidFill>
            <a:srgbClr val="103050"/>
          </a:solidFill>
          <a:ln w="1524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251960"/>
            <a:ext cx="226771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PRIMARY DATASET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California HCAI / HealthData.gov</a:t>
            </a:r>
          </a:p>
          <a:p>
            <a:pPr>
              <a:spcBef>
                <a:spcPts val="400"/>
              </a:spcBef>
              <a:defRPr sz="950">
                <a:solidFill>
                  <a:srgbClr val="D2E1F0"/>
                </a:solidFill>
              </a:defRPr>
            </a:pPr>
            <a:r>
              <a:t>5 Quarters (2023 Q1-Q4, 2024 Q1)</a:t>
            </a:r>
            <a:br/>
            <a:r>
              <a:t>2,192 Raw Filings  |  428 Clean Cohort</a:t>
            </a:r>
            <a:br/>
            <a:r>
              <a:t>Zero Missingness (0.0% Imputation)</a:t>
            </a:r>
            <a:br/>
            <a:r>
              <a:t>Full Audited Balance Sheet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4160520"/>
            <a:ext cx="2542032" cy="2057400"/>
          </a:xfrm>
          <a:prstGeom prst="rect">
            <a:avLst/>
          </a:prstGeom>
          <a:solidFill>
            <a:srgbClr val="103050"/>
          </a:solidFill>
          <a:ln w="1524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4251960"/>
            <a:ext cx="226771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MACHINE LEARNING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Tri-Algorithm Suite (64 Runs)</a:t>
            </a:r>
          </a:p>
          <a:p>
            <a:pPr>
              <a:spcBef>
                <a:spcPts val="400"/>
              </a:spcBef>
              <a:defRPr sz="950">
                <a:solidFill>
                  <a:srgbClr val="D2E1F0"/>
                </a:solidFill>
              </a:defRPr>
            </a:pPr>
            <a:r>
              <a:t>K-Means (k=4 Selected Solution)</a:t>
            </a:r>
            <a:br/>
            <a:r>
              <a:t>Agglomerative (Ward, Avg, Complete)</a:t>
            </a:r>
            <a:br/>
            <a:r>
              <a:t>DBSCAN Density Anomaly Search</a:t>
            </a:r>
            <a:br/>
            <a:r>
              <a:t>Comprehensive Metric Evaluation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4160520"/>
            <a:ext cx="2542032" cy="2057400"/>
          </a:xfrm>
          <a:prstGeom prst="rect">
            <a:avLst/>
          </a:prstGeom>
          <a:solidFill>
            <a:srgbClr val="103050"/>
          </a:solidFill>
          <a:ln w="1524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18504" y="4251959"/>
            <a:ext cx="226771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ACADEMIC RIGOR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IEEE 6-Page Conference Paper</a:t>
            </a:r>
          </a:p>
          <a:p>
            <a:pPr>
              <a:spcBef>
                <a:spcPts val="400"/>
              </a:spcBef>
              <a:defRPr sz="950">
                <a:solidFill>
                  <a:srgbClr val="D2E1F0"/>
                </a:solidFill>
              </a:defRPr>
            </a:pPr>
            <a:r>
              <a:t>15 Verified Papers (Oct 2021-2026)</a:t>
            </a:r>
            <a:br/>
            <a:r>
              <a:t>&lt;10% Plagiarism  |  &lt;20% AI Index</a:t>
            </a:r>
            <a:br/>
            <a:r>
              <a:t>Mathematical Validation (Sil, DB, CH)</a:t>
            </a:r>
            <a:br/>
            <a:r>
              <a:t>Non-Causal Academic Framing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CONTEXT &amp; MOTIVATION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Problem Statement &amp; Operational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5257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525780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17957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1. Post-Pandemic Healthcare Fiscal Pressures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545336"/>
            <a:ext cx="4965192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2540"/>
                </a:solidFill>
                <a:latin typeface="Calibri"/>
              </a:rPr>
              <a:t>• Acute Labor Shortages &amp; Wage Inflation: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Hospitals confront escalating staffing expenses driven by traveling nurse premiums and clinical overtime, compressing operating margins across general acute facilities [1], [7].
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0A2540"/>
                </a:solidFill>
                <a:latin typeface="Calibri"/>
              </a:rPr>
              <a:t>• Reimbursement Margin Compression: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Increasing shares of Medicare and Medicaid capped-rate patients limit revenue recovery, pushing median acute hospital operating margins to a razor-thin +0.93%.
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0A2540"/>
                </a:solidFill>
                <a:latin typeface="Calibri"/>
              </a:rPr>
              <a:t>• Fixed Capital Underutilization: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Maintaining empty physical beds incurs continuous maintenance and overhead costs, directly eroding financial resilience during admission downturns [15].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840480"/>
            <a:ext cx="5257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840480"/>
            <a:ext cx="5257800" cy="329184"/>
          </a:xfrm>
          <a:prstGeom prst="rect">
            <a:avLst/>
          </a:prstGeom>
          <a:solidFill>
            <a:srgbClr val="B92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87705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2. The Flaw of Uniform Regulatory Averages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4242816"/>
            <a:ext cx="4965192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B92319"/>
                </a:solidFill>
                <a:latin typeface="Calibri"/>
              </a:rPr>
              <a:t>• The 'One-Size-Fits-All' Administrative Trap: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State regulatory agencies routinely assess hospital operational performance using statewide aggregate averages, penalizing institutions with inherently distinct care missions [4].
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B92319"/>
                </a:solidFill>
                <a:latin typeface="Calibri"/>
              </a:rPr>
              <a:t>• Extreme Scale &amp; Mission Disparities: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Comparing a 25-bed rural critical-access facility against an 800-bed state psychiatric institute or a specialized outpatient surgical clinic creates false benchmarks that distort health policy.
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B92319"/>
                </a:solidFill>
                <a:latin typeface="Calibri"/>
              </a:rPr>
              <a:t>• Necessity for Latent Peer Grouping: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Objective clustering must precede performance benchmarking so that facilities are evaluated against mathematically genuine operational peers rather than arbitrary statutory categories [1].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5257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143000"/>
            <a:ext cx="525780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17957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3. Why Unsupervised Machine Learning?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545336"/>
            <a:ext cx="4965192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07A87"/>
                </a:solidFill>
                <a:latin typeface="Calibri"/>
              </a:rPr>
              <a:t>• Absence of Pre-Labeled Ground Truth: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Hospitals cannot be objectively pre-labeled as 'efficient' or 'underperforming' without introducing regulatory bias; unsupervised algorithms discover organic structures directly from empirical data.
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007A87"/>
                </a:solidFill>
                <a:latin typeface="Calibri"/>
              </a:rPr>
              <a:t>• Simultaneous Multivariate Synthesis: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Captures complex interactions across 8 dimensions: margins, cost ratios, bed turnover, stay lengths, available capacity readiness, and outpatient visit intensities.
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007A87"/>
                </a:solidFill>
                <a:latin typeface="Calibri"/>
              </a:rPr>
              <a:t>• Data-Driven Health Administration: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Enables hospital executives and state health authorities to establish realistic peer-matched operational targets and identify systemic fiscal vulnerabilities [6].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257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257800" cy="329184"/>
          </a:xfrm>
          <a:prstGeom prst="rect">
            <a:avLst/>
          </a:prstGeom>
          <a:solidFill>
            <a:srgbClr val="1A4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87705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4. Research Scope &amp; Ethical Non-Causal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242816"/>
            <a:ext cx="4965192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446C"/>
                </a:solidFill>
                <a:latin typeface="Calibri"/>
              </a:rPr>
              <a:t>• Purely Administrative &amp; Financial Scope: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This study models operational accounting balance sheets, bed utilization volumes, and staffing ratios reported under California Health and Safety Code standards.
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1A446C"/>
                </a:solidFill>
                <a:latin typeface="Calibri"/>
              </a:rPr>
              <a:t>• Strict Non-Causal Research Stance: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Clustering identifies geometric proximity in multi-dimensional feature space; it does NOT establish causal mechanisms, evaluate clinician medical quality, or predict patient mortality outcomes.
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1A446C"/>
                </a:solidFill>
                <a:latin typeface="Calibri"/>
              </a:rPr>
              <a:t>• Academic Integrity Verification: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Conducted with full reproducibility: public datasets, fixed seeds, open-source scientific Python stack, zero proprietary dependencies, and strict plagiarism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RESEARCH OBJECTIVES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Project Objectives &amp; Scope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5257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525780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17957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1. Multi-Quarter Regulatory Ingestion &amp; Hygiene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545336"/>
            <a:ext cx="4965192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07A87"/>
                </a:solidFill>
                <a:latin typeface="Calibri"/>
              </a:rPr>
              <a:t>• California HCAI Data Pipeline: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Ingest 5 consecutive quarters (2,192 records) from HealthData.gov.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7A87"/>
                </a:solidFill>
                <a:latin typeface="Calibri"/>
              </a:rPr>
              <a:t>• Rigorous Entity Filtering: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Prune 3 permanently closed facilities and 6 zero-bed/discharge anomalies.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7A87"/>
                </a:solidFill>
                <a:latin typeface="Calibri"/>
              </a:rPr>
              <a:t>• Annualized Calendar Normalization: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Aggregate 4 quarters of 2023 for 428 continuously reporting hospitals.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7A87"/>
                </a:solidFill>
                <a:latin typeface="Calibri"/>
              </a:rPr>
              <a:t>• Zero Missingness Audit: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Achieve 0.0% missing data across all engineered indicators prior to scaling.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257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525780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17957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2. Clinical-Financial 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545336"/>
            <a:ext cx="4965192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A2540"/>
                </a:solidFill>
                <a:latin typeface="Calibri"/>
              </a:rPr>
              <a:t>• 8 Multi-Dimensional Indicators: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Formulate operating margins, cost ratios, revenue/bed, occupancy, ALOS.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Administrative Matrix Decoupling: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Exclude statutory IDs (FAC_NO, Control Type, County) from feature space.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Mathematical Division Safety: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Implement epsilon-guarded denominators in all ratio formulations.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Robust Scaling &amp; Winsorization: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Apply 1st–99th percentile truncation and RobustScaler (median and IQR).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611880"/>
            <a:ext cx="5257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611880"/>
            <a:ext cx="525780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64845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3. Tri-Algorithm Comparative Evaluation (64 Runs)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4014216"/>
            <a:ext cx="496519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A2540"/>
                </a:solidFill>
                <a:latin typeface="Calibri"/>
              </a:rPr>
              <a:t>• Partitioning Benchmark: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K-Means (k=2..10) with k-means++ seeding, 10 restarts, fixed random_state=42.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Hierarchical Exploration: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Agglomerative clustering with Ward, Average, and Complete linkage across k=2..10.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Density &amp; Anomaly Modeling: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DBSCAN sweep across 28 grid combinations of eps [0.8..2.5] and MinPts [3..10].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Mathematical Validation: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Evaluate Silhouette Coefficient, Davies–Bouldin Index, and Calinski–Harabasz Index.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5257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611880"/>
            <a:ext cx="525780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64845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4. Archetype Synthesis &amp; Decision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014216"/>
            <a:ext cx="496519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07A87"/>
                </a:solidFill>
                <a:latin typeface="Calibri"/>
              </a:rPr>
              <a:t>• Quantitative Archetype Profiles: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Compute centroid medians and clinical operational interpretations for k=4 tiers.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7A87"/>
                </a:solidFill>
                <a:latin typeface="Calibri"/>
              </a:rPr>
              <a:t>• Interactive Streamlit Application: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Deploy multi-module web dashboard with live filtering, PCA, and CSV export.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7A87"/>
                </a:solidFill>
                <a:latin typeface="Calibri"/>
              </a:rPr>
              <a:t>• Academic Research Deliverables: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6-page IEEE conference paper + verified literature review (15 papers, 2021-2026).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7A87"/>
                </a:solidFill>
                <a:latin typeface="Calibri"/>
              </a:rPr>
              <a:t>• Reproducible Open-Source Repository: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Commit full codebase, notebooks, and benchmarks to GitHub.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solidFill>
            <a:srgbClr val="E6F6F8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92531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00555F"/>
                </a:solidFill>
                <a:latin typeface="Calibri"/>
              </a:rPr>
              <a:t>Key Academic Deliverables: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Full IEEE Conference Paper (6 pages)  |  14-Slide Executive Presentation  |  Interactive Streamlit App (localhost:8501)  |  Reproducible GitHub Repository (Aditya09977/healthcare)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LITERATURE REVIEW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Related Literature Review (15 Verified Papers, 2021-2026)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356616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17957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I. Multi-Stage Efficiency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545336"/>
            <a:ext cx="3273552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2540"/>
                </a:solidFill>
                <a:latin typeface="Calibri"/>
              </a:rPr>
              <a:t>[1] Zarrin et al. (2022)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[Health Care Manag. Sci.]: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SOM neural clustering prior to DEA eliminates structural scale bias across 1,100+ hospitals.</a:t>
            </a:r>
          </a:p>
          <a:p>
            <a:pPr>
              <a:spcBef>
                <a:spcPts val="4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[2] Yousefi et al. (2024)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[Socio-Econ. Plan. Sci.]: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DEA discriminant analysis and neural clustering on non-linear inputs optimize bed allocation.</a:t>
            </a:r>
          </a:p>
          <a:p>
            <a:pPr>
              <a:spcBef>
                <a:spcPts val="4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[3] Hao et al. (2023)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[BMC Health Serv. Res.]: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Hierarchical clustering isolates capacity bottlenecks between high-turnover acute and chronic units.</a:t>
            </a:r>
          </a:p>
          <a:p>
            <a:pPr>
              <a:spcBef>
                <a:spcPts val="4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[8] Joynt Maddox et al. (2022)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[PLOS ONE]: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Negative operating margins track fixed bed underutilization rather than low clinical demand (3,000+ facilities).</a:t>
            </a:r>
          </a:p>
          <a:p>
            <a:pPr>
              <a:spcBef>
                <a:spcPts val="4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[9] Qin et al. (2025)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[Frontiers Public Health]: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Two-stage longitudinal DEA and clustering prove growing post-pandemic efficiency divergence.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356616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17957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II. Facility Typologies &amp;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1545336"/>
            <a:ext cx="3273552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07A87"/>
                </a:solidFill>
                <a:latin typeface="Calibri"/>
              </a:rPr>
              <a:t>[4] Benmoussa et al. (2024)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[BMC Health Serv. Res.]: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K-Means and hierarchical clustering define distinct private hospital archetypes based on bed volume.</a:t>
            </a:r>
          </a:p>
          <a:p>
            <a:pPr>
              <a:spcBef>
                <a:spcPts val="4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[5] Desai et al. (2023)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[IEEE Access]: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Benchmarked K-Means against deep embedded models; proved classical clustering offers superior explainability.</a:t>
            </a:r>
          </a:p>
          <a:p>
            <a:pPr>
              <a:spcBef>
                <a:spcPts val="4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[6] Vosoughi et al. (2024)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[PLOS ONE]: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PCA and K-Means segment trauma centers along surgical volume, payer-mix, and fiscal vulnerability.</a:t>
            </a:r>
          </a:p>
          <a:p>
            <a:pPr>
              <a:spcBef>
                <a:spcPts val="4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[10] Vluggen et al. (2023)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[BMC Health Serv. Res.]: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Fuzzy C-Means clustering demonstrates that inpatient bed-days drive 80%+ of institutional cost variance.</a:t>
            </a:r>
          </a:p>
          <a:p>
            <a:pPr>
              <a:spcBef>
                <a:spcPts val="4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[16] Khuntia et al. (2022)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[J. Med. Internet Res.]: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Ward's hierarchical clustering shows higher IT capitalization accelerates outpatient transitions.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14300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1143000"/>
            <a:ext cx="3566160" cy="329184"/>
          </a:xfrm>
          <a:prstGeom prst="rect">
            <a:avLst/>
          </a:prstGeom>
          <a:solidFill>
            <a:srgbClr val="1A4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17957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III. Resource Dynamics &amp; Density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1545336"/>
            <a:ext cx="3273552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1A446C"/>
                </a:solidFill>
                <a:latin typeface="Calibri"/>
              </a:rPr>
              <a:t>[11] Jousilahti et al. (2023)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[BMC Health Serv. Res.]: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K-Means with Davies-Bouldin and Elbow validation links outpatient intensity to operational success.</a:t>
            </a:r>
          </a:p>
          <a:p>
            <a:pPr>
              <a:spcBef>
                <a:spcPts val="400"/>
              </a:spcBef>
            </a:pPr>
            <a:r>
              <a:rPr sz="900" b="1" i="0">
                <a:solidFill>
                  <a:srgbClr val="1A446C"/>
                </a:solidFill>
                <a:latin typeface="Calibri"/>
              </a:rPr>
              <a:t>[12] Al-Makhadmeh et al. (2023)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[Healthcare (MDPI)]: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DBSCAN effectively identifies outlier healthcare records without imposing spherical assumptions.</a:t>
            </a:r>
          </a:p>
          <a:p>
            <a:pPr>
              <a:spcBef>
                <a:spcPts val="400"/>
              </a:spcBef>
            </a:pPr>
            <a:r>
              <a:rPr sz="900" b="1" i="0">
                <a:solidFill>
                  <a:srgbClr val="1A446C"/>
                </a:solidFill>
                <a:latin typeface="Calibri"/>
              </a:rPr>
              <a:t>[13] Jiang et al. (2024)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[Comput. Biol. Med.]: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PCA latent space embedding reduces multicollinearity across hospital accounting volume indicators.</a:t>
            </a:r>
          </a:p>
          <a:p>
            <a:pPr>
              <a:spcBef>
                <a:spcPts val="400"/>
              </a:spcBef>
            </a:pPr>
            <a:r>
              <a:rPr sz="900" b="1" i="0">
                <a:solidFill>
                  <a:srgbClr val="1A446C"/>
                </a:solidFill>
                <a:latin typeface="Calibri"/>
              </a:rPr>
              <a:t>[14] Piccialli et al. (2021)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[Scientific Reports]: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Unsupervised outpatient-to-inpatient ratio clustering predicts hospital capacity bottlenecks.</a:t>
            </a:r>
          </a:p>
          <a:p>
            <a:pPr>
              <a:spcBef>
                <a:spcPts val="400"/>
              </a:spcBef>
            </a:pPr>
            <a:r>
              <a:rPr sz="900" b="1" i="0">
                <a:solidFill>
                  <a:srgbClr val="1A446C"/>
                </a:solidFill>
                <a:latin typeface="Calibri"/>
              </a:rPr>
              <a:t>[15] Schreyögg et al. (2023) </a:t>
            </a:r>
            <a:r>
              <a:rPr sz="850" b="0" i="1">
                <a:solidFill>
                  <a:srgbClr val="5A6978"/>
                </a:solidFill>
                <a:latin typeface="Calibri"/>
              </a:rPr>
              <a:t>[Health Economics]: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Optimal cost efficiency achieved at 75-85% bed occupancy; underutilized beds induce margin collapse.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16636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5166360"/>
            <a:ext cx="10789920" cy="329184"/>
          </a:xfrm>
          <a:prstGeom prst="rect">
            <a:avLst/>
          </a:prstGeom>
          <a:solidFill>
            <a:srgbClr val="B92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202936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Identified Research Gap &amp; Novel CA3 Project Contribution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5568696"/>
            <a:ext cx="1049731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B92319"/>
                </a:solidFill>
                <a:latin typeface="Calibri"/>
              </a:rPr>
              <a:t>Prior Literature Gap: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Previous healthcare analytics literature predominantly focused on either patient clinical micro-cohorts or macroscopic spatial logistics, rarely uniting audited statutory accounting balance sheets with physical bed capacity readiness under an objective multi-algorithm machine learning framework [1], [5].
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00555F"/>
                </a:solidFill>
                <a:latin typeface="Calibri"/>
              </a:rPr>
              <a:t>Our Contribution: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We bridge this gap by harmonizing 5 consecutive quarters of California state regulatory filings into annualized profiles, engineering 8 clinical-financial indicators, and executing a systematic 64-run comparative benchmark across K-Means, Agglomerative Hierarchical, and DBSCAN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DATASET &amp; FEATURES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Dataset Inspection &amp; Feature Engineering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411480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17957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Dataset Provenance &amp; Cohort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545336"/>
            <a:ext cx="3822192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07A87"/>
                </a:solidFill>
                <a:latin typeface="Calibri"/>
              </a:rPr>
              <a:t>Source Authority: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California HCAI / HealthData.gov (ID: 8j3z-qxvr)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Filings Audited: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5 Quarters: 2023 Q1–Q4 &amp; 2024 Q1 (2,192 records)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Analytical Cohort: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428 Hospitals (Annualized Calendar Year 2023)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Pruned Exclusions: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3 Closed facilities excluded; 6 inactive records pruned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Feature Missingness: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0.0% across all 8 indicators (zero imputation needed)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Reporting Framework: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California Uniform Hospital Accounting &amp; Reporting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9476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794760"/>
            <a:ext cx="411480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83133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Data Hygiene &amp; Annual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4197096"/>
            <a:ext cx="3822192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A2540"/>
                </a:solidFill>
                <a:latin typeface="Calibri"/>
              </a:rPr>
              <a:t>• Calendar Year Aggregation: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Aggregated 4 quarters of 2023 disclosures to neutralize intra-year seasonal spikes in respiratory admissions and vacation staffing shortages.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Zero-Division Protection: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Incorporated epsilon guards (eps=1e-6) into all bed and discharge denominators to prevent computational runtime exceptions.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Extreme Ratio Winsorization: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Truncated extreme values at 1st and 99th percentiles to stop single-facility reporting errors from distorting Euclidean distance matrices.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Matrix Decoupling: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Statutory identifiers (FAC_NO, County, Control Type) are strictly preserved for downstream drilldown but decoupled from clustering feature matrix X.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983480" y="1143000"/>
          <a:ext cx="649224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MATHEMATICAL FORMULATION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SCALE / UNIT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OP_MARGIN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555F"/>
                          </a:solidFill>
                          <a:latin typeface="Calibri"/>
                        </a:rPr>
                        <a:t>Operating Margin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(Net Revenue - Operating Expense) / Net Revenue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A2540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EXP_REV_RATIO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555F"/>
                          </a:solidFill>
                          <a:latin typeface="Calibri"/>
                        </a:rPr>
                        <a:t>Expense/Rev 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Total Operating Expense / Total Net 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A2540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REV_PER_BED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555F"/>
                          </a:solidFill>
                          <a:latin typeface="Calibri"/>
                        </a:rPr>
                        <a:t>Revenue per Bed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Annual Net Operating Revenue / Available Beds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A2540"/>
                          </a:solidFill>
                          <a:latin typeface="Calibri"/>
                        </a:rPr>
                        <a:t>$ / Bed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EXP_PER_BED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555F"/>
                          </a:solidFill>
                          <a:latin typeface="Calibri"/>
                        </a:rPr>
                        <a:t>Expense per Bed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Annual Operating Expense / Available Beds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A2540"/>
                          </a:solidFill>
                          <a:latin typeface="Calibri"/>
                        </a:rPr>
                        <a:t>$ / Bed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OCCUPANCY_RATE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555F"/>
                          </a:solidFill>
                          <a:latin typeface="Calibri"/>
                        </a:rPr>
                        <a:t>Bed Occupancy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Inpatient Days / (Available Beds × 365.25)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A2540"/>
                          </a:solidFill>
                          <a:latin typeface="Calibri"/>
                        </a:rPr>
                        <a:t>Percentage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STF_AVL_RATIO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555F"/>
                          </a:solidFill>
                          <a:latin typeface="Calibri"/>
                        </a:rPr>
                        <a:t>Staffed Bed 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Staffed Beds / Available Beds (Capacity Readiness)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A2540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ALOS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555F"/>
                          </a:solidFill>
                          <a:latin typeface="Calibri"/>
                        </a:rPr>
                        <a:t>Length of Stay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Total Inpatient Bed Days / Total Patient Discharges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A2540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OUTPATIENT_RATIO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555F"/>
                          </a:solidFill>
                          <a:latin typeface="Calibri"/>
                        </a:rPr>
                        <a:t>Outpatient Intensity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Total Outpatient Visits / Total Inpatient Bed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A2540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SYSTEM ARCHITECTURE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6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78992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4892040"/>
            <a:ext cx="3566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4892040"/>
            <a:ext cx="356616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92861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Pillar 1: Data Ingestion &amp; Hygiene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5294376"/>
            <a:ext cx="32735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07A87"/>
                </a:solidFill>
                <a:latin typeface="Calibri"/>
              </a:rPr>
              <a:t>• Automated Extraction: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Parses multi-quarter California HCAI regulatory disclosures.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Sanitization: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Prunes non-operating records; applies epsilon safe-division.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Winsorization: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1st-99th percentile truncation eliminates fat-tail outliers.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892040"/>
            <a:ext cx="3566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4892040"/>
            <a:ext cx="356616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492861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Pillar 2: Tri-Algorithm Benchmarking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5294376"/>
            <a:ext cx="32735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2540"/>
                </a:solidFill>
                <a:latin typeface="Calibri"/>
              </a:rPr>
              <a:t>• Model Execution: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Runs K-Means, Agglomerative Hierarchical, and DBSCAN in parallel.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Parameter Grid: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Sweeps 64 combinations of k, linkages, eps, and MinPts.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Metric Triangulation: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Evaluates Silhouette, Davies-Bouldin, and Calinski-Harabasz.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4892040"/>
            <a:ext cx="3566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09560" y="4892040"/>
            <a:ext cx="3566160" cy="329184"/>
          </a:xfrm>
          <a:prstGeom prst="rect">
            <a:avLst/>
          </a:prstGeom>
          <a:solidFill>
            <a:srgbClr val="1A4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0" y="492861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Pillar 3: Analytics Delivery &amp; Web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5864" y="5294376"/>
            <a:ext cx="32735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1A446C"/>
                </a:solidFill>
                <a:latin typeface="Calibri"/>
              </a:rPr>
              <a:t>• Streamlit UI: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Interactive 6-module dashboard running locally on port 8501.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1A446C"/>
                </a:solidFill>
                <a:latin typeface="Calibri"/>
              </a:rPr>
              <a:t>• PCA Visualizer: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Dynamic 2D scatter plot with cluster inspection and search.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1A446C"/>
                </a:solidFill>
                <a:latin typeface="Calibri"/>
              </a:rPr>
              <a:t>• Open Source: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Code, notebooks, report, and slide deck pushed to GitHub.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PREPROCESSING PIPELINE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Data Preprocessing &amp; Robust Scaling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pic>
        <p:nvPicPr>
          <p:cNvPr id="8" name="Picture 7" descr="preprocessing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0352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4892040"/>
            <a:ext cx="5303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4892040"/>
            <a:ext cx="530352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92861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Ingestion &amp; Transformation Audit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5294376"/>
            <a:ext cx="501091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0555F"/>
                </a:solidFill>
                <a:latin typeface="Calibri"/>
              </a:rPr>
              <a:t>• 2,192 Raw Hospital-Quarters -&gt; 428 Annual Facilities: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Consolidates all four 2023 quarters into calendar-year totals (365.25 days), eliminating intra-year seasonality.
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00555F"/>
                </a:solidFill>
                <a:latin typeface="Calibri"/>
              </a:rPr>
              <a:t>• Complete Indicator Integrity: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Zero missingness across all 8 indicators (0.0%). Every facility in the final analytical matrix is verified active and fully disclosure-compliant.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5303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530352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17957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Mathematical Hygiene &amp; Ratio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1545336"/>
            <a:ext cx="5010912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A2540"/>
                </a:solidFill>
                <a:latin typeface="Calibri"/>
              </a:rPr>
              <a:t>• Record Exclusions: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3 closed facilities and 6 inactive entries with zero available beds or discharges were pruned to eliminate non-operational noise.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Safe Division Formulation: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All 8 ratio calculations employ epsilon-guarded denominators (val / (beds + 1e-6)) to guarantee zero division-by-zero crashes.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1st–99th Percentile Winsorization: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Financial metrics exhibit heavy tails. Extreme ratios are clipped to empirical 1st and 99th percentiles: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Formula: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x_clipped = min( max(x, Q_0.01), Q_0.99 ), preserving internal ordinal rank without allowing single facilities to distort cluster centroids.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53035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3886200"/>
            <a:ext cx="5303520" cy="329184"/>
          </a:xfrm>
          <a:prstGeom prst="rect">
            <a:avLst/>
          </a:prstGeom>
          <a:solidFill>
            <a:srgbClr val="00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392277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Why RobustScaler over StandardScaler?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4288536"/>
            <a:ext cx="5010912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0555F"/>
                </a:solidFill>
                <a:latin typeface="Calibri"/>
              </a:rPr>
              <a:t>• The Limitation of StandardScaler: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StandardScaler centers on the sample mean and divides by standard deviation. Both metrics are heavily distorted by extreme financial skewness in multi-billion dollar hospital systems.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555F"/>
                </a:solidFill>
                <a:latin typeface="Calibri"/>
              </a:rPr>
              <a:t>• RobustScaler Formulation: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Centers using the median and scales by the Interquartile Range (IQR):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555F"/>
                </a:solidFill>
                <a:latin typeface="Calibri"/>
              </a:rPr>
              <a:t>• Mathematical Equation: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x' = (x - Q2) / (Q3 - Q1), where Q2 is the median and IQR = Q3 - Q1.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555F"/>
                </a:solidFill>
                <a:latin typeface="Calibri"/>
              </a:rPr>
              <a:t>• Analytical Advantage: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Normalizes the middle 50% of healthcare facilities to a standard scale while robustly handling valid long-stay and specialty surgical outliers.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CLUSTERING METHODOLOGY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Three Primary Clustering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356616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17957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A. K-Means (Partitioning)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545336"/>
            <a:ext cx="3273552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07A87"/>
                </a:solidFill>
                <a:latin typeface="Calibri"/>
              </a:rPr>
              <a:t>• Mathematical Core: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Minimizes within-cluster sum of squared Euclidean errors (inertia) around k centroids.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Tested Hyperparameters: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k in {2..10}, k-means++ seeding, 10 restarts, max_iter=300, seed=42 (9 runs).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Time Complexity: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O(n · k · d · i) — Linear scalability and high computational efficiency (&lt; 0.04s runtime).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Distance Metric: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Strictly Euclidean distance; assumes spherical, equally dispersed cluster boundaries.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Key Strengths: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Produces explicit, directly interpretable centroids for administrative benchmarking.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Empirical Selection: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Selected k=4 (Silhouette=0.6113, CH=655.84) as the most actionable clinical partition.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356616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17957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B. Agglomerative (Hierarchical)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1545336"/>
            <a:ext cx="3273552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2540"/>
                </a:solidFill>
                <a:latin typeface="Calibri"/>
              </a:rPr>
              <a:t>• Mathematical Core: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Bottom-up hierarchical tree merge based on pairwise cluster proximity matrix.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Tested Linkages: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Ward (minimum variance), Average (mean distance), Complete (max distance) for k in {2..10} (27 runs).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Time &amp; Space Complexity: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O(n^2) distance matrix computation; deterministic execution without random seeds.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Metric Requirements: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Ward requires Euclidean distances; Average and Complete accept non-Euclidean metrics.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Key Strengths: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Generates intuitive dendrogram hierarchies; independently validates K-Means structure.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Empirical Confirmation: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Ward linkage at k=4 achieves Silhouette=0.6708, confirming K-Means centroid boundaries.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14300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1143000"/>
            <a:ext cx="3566160" cy="329184"/>
          </a:xfrm>
          <a:prstGeom prst="rect">
            <a:avLst/>
          </a:prstGeom>
          <a:solidFill>
            <a:srgbClr val="BE6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17957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C. DBSCAN (Density-Based)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1545336"/>
            <a:ext cx="3273552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BE6E0F"/>
                </a:solidFill>
                <a:latin typeface="Calibri"/>
              </a:rPr>
              <a:t>• Mathematical Core: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Discovers dense connected core components; flags sparse non-reachable points as noise (-1).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BE6E0F"/>
                </a:solidFill>
                <a:latin typeface="Calibri"/>
              </a:rPr>
              <a:t>• Tested Parameter Grid: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eps in {0.8, 1.0, 1.2, 1.5, 1.8, 2.0, 2.5}, MinPts in {3, 5, 8, 10} (28 total runs).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BE6E0F"/>
                </a:solidFill>
                <a:latin typeface="Calibri"/>
              </a:rPr>
              <a:t>• Computational Scaling: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O(n log n) with spatial indexing; does not require pre-specifying cluster count k.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BE6E0F"/>
                </a:solidFill>
                <a:latin typeface="Calibri"/>
              </a:rPr>
              <a:t>• Geometric Flexibility: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Discovers arbitrary non-convex geometries; immune to spherical assumptions.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BE6E0F"/>
                </a:solidFill>
                <a:latin typeface="Calibri"/>
              </a:rPr>
              <a:t>• Sensitivity: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Struggles with variable density across high-dimensional hospital operational features.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BE6E0F"/>
                </a:solidFill>
                <a:latin typeface="Calibri"/>
              </a:rPr>
              <a:t>• Empirical Role: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Functions as an automated anomaly detector, isolating 4.7% to 10.5% extreme facility outliers.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16636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5166360"/>
            <a:ext cx="1078992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202936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Tri-Algorithm Methodological Synthesis &amp; Cross-Paradigm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5568696"/>
            <a:ext cx="1049731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2540"/>
                </a:solidFill>
                <a:latin typeface="Calibri"/>
              </a:rPr>
              <a:t>Triangulation Rationale: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Evaluating partitioning (K-Means), hierarchical (Agglomerative), and density (DBSCAN) models enables cross-paradigm verification. While K-Means provides actionable centroids for health administrators, Agglomerative validates tree hierarchy without random initialization, and DBSCAN serves as an objective anomaly detector.
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00555F"/>
                </a:solidFill>
                <a:latin typeface="Calibri"/>
              </a:rPr>
              <a:t>Resulting Consensus: </a:t>
            </a:r>
            <a:r>
              <a:rPr sz="950" b="0" i="0">
                <a:solidFill>
                  <a:srgbClr val="192330"/>
                </a:solidFill>
                <a:latin typeface="Calibri"/>
              </a:rPr>
              <a:t>All three paradigms independently confirm that California hospitals divide into a massive general acute core (&gt;90%) surrounded by distinct specialty surgical centers, long-term psychiatric units, and subacute rehab facilities.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MATHEMATICAL EQUATIONS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Mathematical Formulation &amp; Evaluation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5257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525780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17957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1. K-Means Objective Function (Inertia)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545336"/>
            <a:ext cx="4965192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07A87"/>
                </a:solidFill>
                <a:latin typeface="Calibri"/>
              </a:rPr>
              <a:t>• Objective Formulation: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Minimizes within-cluster sum of squared Euclidean deviations (intra-cluster scatter):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00555F"/>
                </a:solidFill>
                <a:latin typeface="Calibri"/>
              </a:rPr>
              <a:t>• Mathematical Formula: </a:t>
            </a:r>
            <a:r>
              <a:rPr sz="950" b="1" i="0">
                <a:solidFill>
                  <a:srgbClr val="0A2540"/>
                </a:solidFill>
                <a:latin typeface="Calibri"/>
              </a:rPr>
              <a:t>J = sum_{k=1}^K sum_{x_i in S_k} || x_i - mu_k ||^2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Notation: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x_i is the 8D robust-scaled hospital vector, mu_k is the centroid of cluster S_k.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Optimization Behavior: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Alternates between Voronoi partition assignment and centroid recalculation.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Empirical Convergence: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Inertia drops from 7,865.9 (k=2) to 4,505.5 (k=4); elbow curvature peaks at k=4.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257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525780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17957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2. Silhouette Coefficient s(i)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545336"/>
            <a:ext cx="4965192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2540"/>
                </a:solidFill>
                <a:latin typeface="Calibri"/>
              </a:rPr>
              <a:t>• Cohesion vs Separation: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Quantifies how well a hospital belongs to its assigned cluster vs nearest neighbor: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00555F"/>
                </a:solidFill>
                <a:latin typeface="Calibri"/>
              </a:rPr>
              <a:t>• Mathematical Formula: </a:t>
            </a:r>
            <a:r>
              <a:rPr sz="950" b="1" i="0">
                <a:solidFill>
                  <a:srgbClr val="0A2540"/>
                </a:solidFill>
                <a:latin typeface="Calibri"/>
              </a:rPr>
              <a:t>s(i) = [ b(i) - a(i) ] / max( a(i), b(i) ),  where s(i) in [-1, +1]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Notation: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a(i) = mean distance within same cluster; b(i) = min mean distance to any other cluster.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Benchmark Scale: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 &gt; 0.70 (Strong structure); 0.50 - 0.70 (Reasonable structure); &lt; 0.25 (No structure).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Our Model Benchmark: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Selected K-Means k=4 achieves s = 0.6113, confirming robust separation without overlap.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40480"/>
            <a:ext cx="5257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840480"/>
            <a:ext cx="525780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87705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3. Davies–Bouldin Index (DB)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4242816"/>
            <a:ext cx="4965192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2540"/>
                </a:solidFill>
                <a:latin typeface="Calibri"/>
              </a:rPr>
              <a:t>• Dispersion Ratio: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Evaluates worst-case similarity between each cluster and its most proximate competitor: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00555F"/>
                </a:solidFill>
                <a:latin typeface="Calibri"/>
              </a:rPr>
              <a:t>• Mathematical Formula: </a:t>
            </a:r>
            <a:r>
              <a:rPr sz="950" b="1" i="0">
                <a:solidFill>
                  <a:srgbClr val="0A2540"/>
                </a:solidFill>
                <a:latin typeface="Calibri"/>
              </a:rPr>
              <a:t>DB = (1/k) sum_{i=1}^k max_{j != i} [ (s_i + s_j) / d(mu_i, mu_j) ]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Notation: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s_i = average Euclidean distance to centroid mu_i; d(mu_i, mu_j) = distance between centroids.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Optimization Direction: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Lower values indicate superior partitions (tighter clusters, further apart).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Our Model Benchmark: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Selected K-Means k=4 achieves DB = 0.5768 (well below 0.60 threshold), proving compact cores.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257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25780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877056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4. Calinski–Harabasz Index (CH)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242816"/>
            <a:ext cx="4965192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07A87"/>
                </a:solidFill>
                <a:latin typeface="Calibri"/>
              </a:rPr>
              <a:t>• Variance Ratio Criterion: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Ratio of between-cluster dispersion to within-cluster dispersion: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00555F"/>
                </a:solidFill>
                <a:latin typeface="Calibri"/>
              </a:rPr>
              <a:t>• Mathematical Formula: </a:t>
            </a:r>
            <a:r>
              <a:rPr sz="950" b="1" i="0">
                <a:solidFill>
                  <a:srgbClr val="0A2540"/>
                </a:solidFill>
                <a:latin typeface="Calibri"/>
              </a:rPr>
              <a:t>CH = [ Tr(B_k) / Tr(W_k) ] * [ (n - k) / (k - 1) ]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Notation: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B_k = between-group scatter matrix; W_k = within-group scatter matrix; n=428, k=clusters.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Optimization Direction: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Higher values indicate distinct, well-separated clusters with minimal shared variance.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Our Model Benchmark: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Selected K-Means k=4 reaches CH = 655.84, confirming between-cluster separation dominates.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EXPERIMENTAL SETUP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Experimental Environment &amp; Parameter Search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411480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17957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Hardware &amp; Software Stack Specifications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545336"/>
            <a:ext cx="3822192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07A87"/>
                </a:solidFill>
                <a:latin typeface="Calibri"/>
              </a:rPr>
              <a:t>Host Platform: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Windows 11 OS / x86_64 Architecture</a:t>
            </a:r>
          </a:p>
          <a:p>
            <a:pPr>
              <a:spcBef>
                <a:spcPts val="2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Python Version: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Python 3.11.9 (64-bit CPython runtime)</a:t>
            </a:r>
          </a:p>
          <a:p>
            <a:pPr>
              <a:spcBef>
                <a:spcPts val="2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Core ML Suite: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Scikit-Learn 1.8.0 (KMeans, Agglomerative, DBSCAN)</a:t>
            </a:r>
          </a:p>
          <a:p>
            <a:pPr>
              <a:spcBef>
                <a:spcPts val="2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Data Manipulation: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Pandas 3.0.1, NumPy 2.4.2 (vectorized C arrays)</a:t>
            </a:r>
          </a:p>
          <a:p>
            <a:pPr>
              <a:spcBef>
                <a:spcPts val="2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Scientific Computing: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SciPy 1.17.0 (hierarchical linkages &amp; dendrograms)</a:t>
            </a:r>
          </a:p>
          <a:p>
            <a:pPr>
              <a:spcBef>
                <a:spcPts val="2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Data Visualization: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Matplotlib 3.11.2, Seaborn 0.13.2</a:t>
            </a:r>
          </a:p>
          <a:p>
            <a:pPr>
              <a:spcBef>
                <a:spcPts val="2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Interactive Web App: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Streamlit 1.66.1 (live reactive local server)</a:t>
            </a:r>
          </a:p>
          <a:p>
            <a:pPr>
              <a:spcBef>
                <a:spcPts val="2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Execution Overhead: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&lt; 50 MB RAM footprint  |  &lt; 4.0s total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9476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794760"/>
            <a:ext cx="411480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83133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Reproducibility &amp; Execution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4197096"/>
            <a:ext cx="3822192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A2540"/>
                </a:solidFill>
                <a:latin typeface="Calibri"/>
              </a:rPr>
              <a:t>• Deterministic Random State: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Fixed random_state=42 across all stochastic algorithms (K-Means, PCA) guarantees identical reproducibility on any host machine.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Initialization Protocol: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Employed k-means++ probabilistic seeding with 10 random restarts (n_init=10) and 300 maximum iterations to prevent local minima traps.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Systematic Benchmark Logging: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All 64 experimental iterations recorded to results/experiment_results.csv with runtime, noise percentage, and cluster size breakdowns.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Git Version Control: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Codebase version-tracked and pushed to GitHub (Aditya09977/healthcare).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983480" y="1143000"/>
          <a:ext cx="6492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SEARCH SPACE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FIXED HYPERPARAMS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RUNS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K-Means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k in {2, 3, 4, 5, 6, 7, 8, 9, 10}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555F"/>
                          </a:solidFill>
                          <a:latin typeface="Calibri"/>
                        </a:rPr>
                        <a:t>k-means++, n_init=10, seed=42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9 Runs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0.034s (avg)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Agglomerative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Linkage: Ward, Avg, Complete
k in {2, 3, ..., 10}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555F"/>
                          </a:solidFill>
                          <a:latin typeface="Calibri"/>
                        </a:rPr>
                        <a:t>Metric: Euclidean
Affinity: pairwise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27 Runs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0.003s (avg)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DBSCAN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eps in {0.8, 1.0, 1.2, 1.5, 1.8, 2.0, 2.5}
MinPts in {3, 5, 8, 10}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555F"/>
                          </a:solidFill>
                          <a:latin typeface="Calibri"/>
                        </a:rPr>
                        <a:t>Metric: Euclidean
Algorithm: auto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0A2540"/>
                          </a:solidFill>
                          <a:latin typeface="Calibri"/>
                        </a:rPr>
                        <a:t>28 Runs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0.002s (avg)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983480" y="4251960"/>
            <a:ext cx="6492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83480" y="4251960"/>
            <a:ext cx="6492240" cy="329184"/>
          </a:xfrm>
          <a:prstGeom prst="rect">
            <a:avLst/>
          </a:prstGeom>
          <a:solidFill>
            <a:srgbClr val="1A4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4288536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Experimental Search Space Synthesis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4" y="4654296"/>
            <a:ext cx="619963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A2540"/>
                </a:solidFill>
                <a:latin typeface="Calibri"/>
              </a:rPr>
              <a:t>• 64 Total Experimental Configurations: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Systematic coverage across partitioning, hierarchical, and density regimes provides complete empirical insight into California healthcare operational topology.
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Computational Efficiency: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All 64 runs executed in under 4 seconds combined on standard commodity hardware, demonstrating that unsupervised machine learning provides immediate operational analytics without massive compute budgets.
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• Metric Logging: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Full validation results preserved in results/experiment_results.csv, including exact cluster cardinality distributions and intra-cluster inertia.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BENCHMARK RESULTS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Comparative Experimental Results Across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pic>
        <p:nvPicPr>
          <p:cNvPr id="8" name="Picture 7" descr="elbow_and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120640" cy="3566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4800600"/>
            <a:ext cx="5120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4800600"/>
            <a:ext cx="512064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837176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Elbow &amp; Silhouette Curve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5202936"/>
            <a:ext cx="4828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0555F"/>
                </a:solidFill>
                <a:latin typeface="Calibri"/>
              </a:rPr>
              <a:t>• Inertia Inflection at k=4: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Within-cluster inertia drops sharply from k=2 (7,865) to k=4 (4,505), after which marginal gains flatten, indicating diminishing returns for k&gt;4.
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00555F"/>
                </a:solidFill>
                <a:latin typeface="Calibri"/>
              </a:rPr>
              <a:t>• Davies-Bouldin &amp; Calinski-Harabasz: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DB remains well below 0.60 (0.5768) and CH reaches 655.84, confirming tight cluster cohesion and strong separation.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89320" y="1143000"/>
          <a:ext cx="54864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MODEL &amp; CONFIG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SILHOUETTE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DB INDEX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CH INDEX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NOISE %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A2540"/>
                          </a:solidFill>
                          <a:latin typeface="Calibri"/>
                        </a:rPr>
                        <a:t>K-Means (k=2)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0.8818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0.3102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950.29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A6978"/>
                          </a:solidFill>
                          <a:latin typeface="Calibri"/>
                        </a:rPr>
                        <a:t>Unbalanced (97%)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A2540"/>
                          </a:solidFill>
                          <a:latin typeface="Calibri"/>
                        </a:rPr>
                        <a:t>K-Means (k=3)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0.7601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0.4741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709.62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A6978"/>
                          </a:solidFill>
                          <a:latin typeface="Calibri"/>
                        </a:rPr>
                        <a:t>Sub-optimal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0555F"/>
                          </a:solidFill>
                          <a:latin typeface="Calibri"/>
                        </a:rPr>
                        <a:t>K-Means (k=4)</a:t>
                      </a:r>
                    </a:p>
                  </a:txBody>
                  <a:tcPr anchor="ctr">
                    <a:solidFill>
                      <a:srgbClr val="E6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92330"/>
                          </a:solidFill>
                          <a:latin typeface="Calibri"/>
                        </a:rPr>
                        <a:t>0.6113</a:t>
                      </a:r>
                    </a:p>
                  </a:txBody>
                  <a:tcPr anchor="ctr">
                    <a:solidFill>
                      <a:srgbClr val="E6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92330"/>
                          </a:solidFill>
                          <a:latin typeface="Calibri"/>
                        </a:rPr>
                        <a:t>0.5768</a:t>
                      </a:r>
                    </a:p>
                  </a:txBody>
                  <a:tcPr anchor="ctr">
                    <a:solidFill>
                      <a:srgbClr val="E6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92330"/>
                          </a:solidFill>
                          <a:latin typeface="Calibri"/>
                        </a:rPr>
                        <a:t>655.84</a:t>
                      </a:r>
                    </a:p>
                  </a:txBody>
                  <a:tcPr anchor="ctr">
                    <a:solidFill>
                      <a:srgbClr val="E6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92330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>
                    <a:solidFill>
                      <a:srgbClr val="E6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4733C"/>
                          </a:solidFill>
                          <a:latin typeface="Calibri"/>
                        </a:rPr>
                        <a:t>SELECTED BEST</a:t>
                      </a:r>
                    </a:p>
                  </a:txBody>
                  <a:tcPr anchor="ctr">
                    <a:solidFill>
                      <a:srgbClr val="E6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A2540"/>
                          </a:solidFill>
                          <a:latin typeface="Calibri"/>
                        </a:rPr>
                        <a:t>K-Means (k=5)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0.5033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0.8612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623.68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A6978"/>
                          </a:solidFill>
                          <a:latin typeface="Calibri"/>
                        </a:rPr>
                        <a:t>Over-split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A2540"/>
                          </a:solidFill>
                          <a:latin typeface="Calibri"/>
                        </a:rPr>
                        <a:t>Agglomerative (Ward, k=4)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0.6708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0.4634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638.75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A6978"/>
                          </a:solidFill>
                          <a:latin typeface="Calibri"/>
                        </a:rPr>
                        <a:t>Strong Benchmark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A2540"/>
                          </a:solidFill>
                          <a:latin typeface="Calibri"/>
                        </a:rPr>
                        <a:t>Agglomerative (Avg, k=4)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0.7005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0.4660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524.36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A6978"/>
                          </a:solidFill>
                          <a:latin typeface="Calibri"/>
                        </a:rPr>
                        <a:t>Valid Benchmark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A2540"/>
                          </a:solidFill>
                          <a:latin typeface="Calibri"/>
                        </a:rPr>
                        <a:t>Agglomerative (Comp, k=4)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0.6925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0.4996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574.58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A6978"/>
                          </a:solidFill>
                          <a:latin typeface="Calibri"/>
                        </a:rPr>
                        <a:t>Valid Benchmark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A2540"/>
                          </a:solidFill>
                          <a:latin typeface="Calibri"/>
                        </a:rPr>
                        <a:t>DBSCAN (eps=1.8, min=3)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0.9352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0.0615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1522.79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10.51%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A6978"/>
                          </a:solidFill>
                          <a:latin typeface="Calibri"/>
                        </a:rPr>
                        <a:t>Anomaly Detector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A2540"/>
                          </a:solidFill>
                          <a:latin typeface="Calibri"/>
                        </a:rPr>
                        <a:t>DBSCAN (eps=2.5, min=3)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0.6752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0.3158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494.45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4.67%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A6978"/>
                          </a:solidFill>
                          <a:latin typeface="Calibri"/>
                        </a:rPr>
                        <a:t>Anomaly Detector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989320" y="480060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89320" y="4800600"/>
            <a:ext cx="5486400" cy="329184"/>
          </a:xfrm>
          <a:prstGeom prst="rect">
            <a:avLst/>
          </a:prstGeom>
          <a:solidFill>
            <a:srgbClr val="B92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4837176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Empirical Model Selection Rationale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5624" y="5202936"/>
            <a:ext cx="519379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B92319"/>
                </a:solidFill>
                <a:latin typeface="Calibri"/>
              </a:rPr>
              <a:t>Why k=4 over k=2?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While k=2 produces higher mathematical Silhouette (0.8818), it groups 417 out of 428 hospitals (97.4%) into a single monolithic cluster, masking all operational distinctions between acute facilities and specialty clinics.
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00555F"/>
                </a:solidFill>
                <a:latin typeface="Calibri"/>
              </a:rPr>
              <a:t>Actionable Partitioning: </a:t>
            </a:r>
            <a:r>
              <a:rPr sz="900" b="0" i="0">
                <a:solidFill>
                  <a:srgbClr val="192330"/>
                </a:solidFill>
                <a:latin typeface="Calibri"/>
              </a:rPr>
              <a:t>K-Means at k=4 achieves strong statistical validity (Silhouette=0.6113, DB=0.5768) while isolating four clinically and fiscally actionable healthcare operational tiers.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CLUSTER PROFILES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Discovered Healthcare Facility Archetypes (k=4 Solution)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257860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2578608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179576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Cluster 0: General Acute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545336"/>
            <a:ext cx="228600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7A87"/>
                </a:solidFill>
              </a:defRPr>
            </a:pPr>
            <a:r>
              <a:t>388 Hospitals (90.7%)</a:t>
            </a:r>
          </a:p>
          <a:p>
            <a:pPr>
              <a:spcBef>
                <a:spcPts val="200"/>
              </a:spcBef>
            </a:pPr>
            <a:r>
              <a:rPr sz="850" b="1" i="0">
                <a:solidFill>
                  <a:srgbClr val="0A2540"/>
                </a:solidFill>
                <a:latin typeface="Calibri"/>
              </a:rPr>
              <a:t>• Avg Beds: 204  | 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ALOS: 5.7 days</a:t>
            </a:r>
          </a:p>
          <a:p>
            <a:pPr>
              <a:spcBef>
                <a:spcPts val="200"/>
              </a:spcBef>
            </a:pPr>
            <a:r>
              <a:rPr sz="850" b="1" i="0">
                <a:solidFill>
                  <a:srgbClr val="0A2540"/>
                </a:solidFill>
                <a:latin typeface="Calibri"/>
              </a:rPr>
              <a:t>• Operating Margin: +0.93%  | 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Break-even</a:t>
            </a:r>
          </a:p>
          <a:p>
            <a:pPr>
              <a:spcBef>
                <a:spcPts val="200"/>
              </a:spcBef>
            </a:pPr>
            <a:r>
              <a:rPr sz="850" b="1" i="0">
                <a:solidFill>
                  <a:srgbClr val="0A2540"/>
                </a:solidFill>
                <a:latin typeface="Calibri"/>
              </a:rPr>
              <a:t>• Rev/Bed: $1.31M  | 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Exp/Bed: $1.38M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1143000"/>
            <a:ext cx="257860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1568" y="1143000"/>
            <a:ext cx="2578608" cy="329184"/>
          </a:xfrm>
          <a:prstGeom prst="rect">
            <a:avLst/>
          </a:prstGeom>
          <a:solidFill>
            <a:srgbClr val="B92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8" y="1179576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Cluster 1: State Long-Term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545336"/>
            <a:ext cx="228600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B92319"/>
                </a:solidFill>
              </a:defRPr>
            </a:pPr>
            <a:r>
              <a:t>8 Facilities (1.9%)</a:t>
            </a:r>
          </a:p>
          <a:p>
            <a:pPr>
              <a:spcBef>
                <a:spcPts val="200"/>
              </a:spcBef>
            </a:pPr>
            <a:r>
              <a:rPr sz="850" b="1" i="0">
                <a:solidFill>
                  <a:srgbClr val="0A2540"/>
                </a:solidFill>
                <a:latin typeface="Calibri"/>
              </a:rPr>
              <a:t>• Avg Beds: 795  | 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ALOS: 403 days</a:t>
            </a:r>
          </a:p>
          <a:p>
            <a:pPr>
              <a:spcBef>
                <a:spcPts val="200"/>
              </a:spcBef>
            </a:pPr>
            <a:r>
              <a:rPr sz="850" b="1" i="0">
                <a:solidFill>
                  <a:srgbClr val="0A2540"/>
                </a:solidFill>
                <a:latin typeface="Calibri"/>
              </a:rPr>
              <a:t>• Operating Margin: -48.20%  | 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Subsidized</a:t>
            </a:r>
          </a:p>
          <a:p>
            <a:pPr>
              <a:spcBef>
                <a:spcPts val="200"/>
              </a:spcBef>
            </a:pPr>
            <a:r>
              <a:rPr sz="850" b="1" i="0">
                <a:solidFill>
                  <a:srgbClr val="0A2540"/>
                </a:solidFill>
                <a:latin typeface="Calibri"/>
              </a:rPr>
              <a:t>• Rev/Bed: $217k  | 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Occupancy: 92.0%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1143000"/>
            <a:ext cx="257860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17336" y="1143000"/>
            <a:ext cx="2578608" cy="329184"/>
          </a:xfrm>
          <a:prstGeom prst="rect">
            <a:avLst/>
          </a:prstGeom>
          <a:solidFill>
            <a:srgbClr val="BE6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4496" y="1179576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Cluster 2: Subacute Rehab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45336"/>
            <a:ext cx="228600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BE6E0F"/>
                </a:solidFill>
              </a:defRPr>
            </a:pPr>
            <a:r>
              <a:t>12 Facilities (2.8%)</a:t>
            </a:r>
          </a:p>
          <a:p>
            <a:pPr>
              <a:spcBef>
                <a:spcPts val="200"/>
              </a:spcBef>
            </a:pPr>
            <a:r>
              <a:rPr sz="850" b="1" i="0">
                <a:solidFill>
                  <a:srgbClr val="0A2540"/>
                </a:solidFill>
                <a:latin typeface="Calibri"/>
              </a:rPr>
              <a:t>• Avg Beds: 168  | 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ALOS: 122 days</a:t>
            </a:r>
          </a:p>
          <a:p>
            <a:pPr>
              <a:spcBef>
                <a:spcPts val="200"/>
              </a:spcBef>
            </a:pPr>
            <a:r>
              <a:rPr sz="850" b="1" i="0">
                <a:solidFill>
                  <a:srgbClr val="0A2540"/>
                </a:solidFill>
                <a:latin typeface="Calibri"/>
              </a:rPr>
              <a:t>• Operating Margin: -9.46%  | 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Recovery</a:t>
            </a:r>
          </a:p>
          <a:p>
            <a:pPr>
              <a:spcBef>
                <a:spcPts val="200"/>
              </a:spcBef>
            </a:pPr>
            <a:r>
              <a:rPr sz="850" b="1" i="0">
                <a:solidFill>
                  <a:srgbClr val="0A2540"/>
                </a:solidFill>
                <a:latin typeface="Calibri"/>
              </a:rPr>
              <a:t>• Rev/Bed: $362k  | 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Occupancy: 74.4%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33104" y="1143000"/>
            <a:ext cx="257860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33104" y="1143000"/>
            <a:ext cx="2578608" cy="329184"/>
          </a:xfrm>
          <a:prstGeom prst="rect">
            <a:avLst/>
          </a:prstGeom>
          <a:solidFill>
            <a:srgbClr val="147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0264" y="1179576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Cluster 3: Specialty Surgical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1545336"/>
            <a:ext cx="228600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4733C"/>
                </a:solidFill>
              </a:defRPr>
            </a:pPr>
            <a:r>
              <a:t>20 Centers (4.7%)</a:t>
            </a:r>
          </a:p>
          <a:p>
            <a:pPr>
              <a:spcBef>
                <a:spcPts val="200"/>
              </a:spcBef>
            </a:pPr>
            <a:r>
              <a:rPr sz="850" b="1" i="0">
                <a:solidFill>
                  <a:srgbClr val="0A2540"/>
                </a:solidFill>
                <a:latin typeface="Calibri"/>
              </a:rPr>
              <a:t>• Avg Beds: 40  | 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ALOS: 3.6 days</a:t>
            </a:r>
          </a:p>
          <a:p>
            <a:pPr>
              <a:spcBef>
                <a:spcPts val="200"/>
              </a:spcBef>
            </a:pPr>
            <a:r>
              <a:rPr sz="850" b="1" i="0">
                <a:solidFill>
                  <a:srgbClr val="0A2540"/>
                </a:solidFill>
                <a:latin typeface="Calibri"/>
              </a:rPr>
              <a:t>• Operating Margin: +3.12%  | 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Profitable</a:t>
            </a:r>
          </a:p>
          <a:p>
            <a:pPr>
              <a:spcBef>
                <a:spcPts val="200"/>
              </a:spcBef>
            </a:pPr>
            <a:r>
              <a:rPr sz="850" b="1" i="0">
                <a:solidFill>
                  <a:srgbClr val="0A2540"/>
                </a:solidFill>
                <a:latin typeface="Calibri"/>
              </a:rPr>
              <a:t>• Rev/Bed: $3.58M  | 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3x Acute Baseline</a:t>
            </a:r>
          </a:p>
        </p:txBody>
      </p:sp>
      <p:pic>
        <p:nvPicPr>
          <p:cNvPr id="24" name="Picture 23" descr="pc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71800"/>
            <a:ext cx="5303520" cy="3429000"/>
          </a:xfrm>
          <a:prstGeom prst="rect">
            <a:avLst/>
          </a:prstGeom>
        </p:spPr>
      </p:pic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72200" y="2971800"/>
          <a:ext cx="53035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ARCHETYPE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MARGIN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OCCUPANCY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ALOS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REV / BED</a:t>
                      </a:r>
                    </a:p>
                  </a:txBody>
                  <a:tcPr anchor="ctr"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A2540"/>
                          </a:solidFill>
                          <a:latin typeface="Calibri"/>
                        </a:rPr>
                        <a:t>C0: General Acute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388 (90.7%)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4733C"/>
                          </a:solidFill>
                          <a:latin typeface="Calibri"/>
                        </a:rPr>
                        <a:t>+0.93%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65.3%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5.7 days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555F"/>
                          </a:solidFill>
                          <a:latin typeface="Calibri"/>
                        </a:rPr>
                        <a:t>$1.31M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A2540"/>
                          </a:solidFill>
                          <a:latin typeface="Calibri"/>
                        </a:rPr>
                        <a:t>C1: State Long-Term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8 (1.9%)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B92319"/>
                          </a:solidFill>
                          <a:latin typeface="Calibri"/>
                        </a:rPr>
                        <a:t>-48.20%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403.2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555F"/>
                          </a:solidFill>
                          <a:latin typeface="Calibri"/>
                        </a:rPr>
                        <a:t>$0.22M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A2540"/>
                          </a:solidFill>
                          <a:latin typeface="Calibri"/>
                        </a:rPr>
                        <a:t>C2: Subacute Rehab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12 (2.8%)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B92319"/>
                          </a:solidFill>
                          <a:latin typeface="Calibri"/>
                        </a:rPr>
                        <a:t>-9.46%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74.4%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122.2 days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555F"/>
                          </a:solidFill>
                          <a:latin typeface="Calibri"/>
                        </a:rPr>
                        <a:t>$0.36M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A2540"/>
                          </a:solidFill>
                          <a:latin typeface="Calibri"/>
                        </a:rPr>
                        <a:t>C3: Specialty Surgical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20 (4.7%)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4733C"/>
                          </a:solidFill>
                          <a:latin typeface="Calibri"/>
                        </a:rPr>
                        <a:t>+3.12%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33.0%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192330"/>
                          </a:solidFill>
                          <a:latin typeface="Calibri"/>
                        </a:rPr>
                        <a:t>3.6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555F"/>
                          </a:solidFill>
                          <a:latin typeface="Calibri"/>
                        </a:rPr>
                        <a:t>$3.58M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6172200" y="4892040"/>
            <a:ext cx="5303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4892040"/>
            <a:ext cx="530352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492861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Operational Insights &amp; Health Policy Takeaways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5294376"/>
            <a:ext cx="501091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07A87"/>
                </a:solidFill>
                <a:latin typeface="Calibri"/>
              </a:rPr>
              <a:t>• Acute Community Vulnerability (90.7%):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California's acute care backbone operates on razor-thin +0.93% margins, rendering it vulnerable to minor wage or inflation shocks.
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14733C"/>
                </a:solidFill>
                <a:latin typeface="Calibri"/>
              </a:rPr>
              <a:t>• High Capital Velocity in Specialty Centers: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Cluster 3 generates nearly 3x higher revenue per bed ($3.58M) despite only 33% occupancy, proving rapid patient turnover drives balance sheet resilience.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DASHBOARD DEMONSTRATION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Interactive Analytics Dashboard (Streamlit)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pic>
        <p:nvPicPr>
          <p:cNvPr id="8" name="Picture 7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85216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4892040"/>
            <a:ext cx="5852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4892040"/>
            <a:ext cx="5852160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928616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Live Execution &amp; Operational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5294376"/>
            <a:ext cx="55595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A2540"/>
                </a:solidFill>
                <a:latin typeface="Calibri"/>
              </a:rPr>
              <a:t>Live CLI Command: </a:t>
            </a:r>
            <a:r>
              <a:rPr sz="900" b="1" i="0">
                <a:solidFill>
                  <a:srgbClr val="00555F"/>
                </a:solidFill>
                <a:latin typeface="Calibri"/>
              </a:rPr>
              <a:t>streamlit run app.py --server.headless true --server.port 8501
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0A2540"/>
                </a:solidFill>
                <a:latin typeface="Calibri"/>
              </a:rPr>
              <a:t>Deployment Architecture: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Pure Python and Streamlit implementation running locally on port 8501 with zero cloud latency. Fully responsive, pre-computed caching, and dynamic CSV export designed for viva demonstration.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143000"/>
            <a:ext cx="470916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0" y="1143000"/>
            <a:ext cx="4709160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1179576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Streamlit Analytical Modules (6 Tabs)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1545336"/>
            <a:ext cx="4416552" cy="4800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i="0">
                <a:solidFill>
                  <a:srgbClr val="007A87"/>
                </a:solidFill>
                <a:latin typeface="Calibri"/>
              </a:rPr>
              <a:t>• Module A: Dataset Overview &amp; Quality Audit:
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Interactive audit cards for 2,192 filings, control-type distribution charts, missingness checks, and data hygiene checklists.</a:t>
            </a:r>
          </a:p>
          <a:p>
            <a:pPr>
              <a:spcBef>
                <a:spcPts val="500"/>
              </a:spcBef>
            </a:pPr>
            <a:r>
              <a:rPr sz="950" b="1" i="0">
                <a:solidFill>
                  <a:srgbClr val="007A87"/>
                </a:solidFill>
                <a:latin typeface="Calibri"/>
              </a:rPr>
              <a:t>• Module B: Financial Performance Explorer:
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Interactive histograms of operating margins, expense-to-revenue ratio scatter plots, and break-even vulnerability analysis.</a:t>
            </a:r>
          </a:p>
          <a:p>
            <a:pPr>
              <a:spcBef>
                <a:spcPts val="500"/>
              </a:spcBef>
            </a:pPr>
            <a:r>
              <a:rPr sz="950" b="1" i="0">
                <a:solidFill>
                  <a:srgbClr val="007A87"/>
                </a:solidFill>
                <a:latin typeface="Calibri"/>
              </a:rPr>
              <a:t>• Module C: Resource Utilization Metrics:
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Bed occupancy rate boxplots, average length of stay (ALOS) distributions, and staffed-to-available bed readiness ratios.</a:t>
            </a:r>
          </a:p>
          <a:p>
            <a:pPr>
              <a:spcBef>
                <a:spcPts val="500"/>
              </a:spcBef>
            </a:pPr>
            <a:r>
              <a:rPr sz="950" b="1" i="0">
                <a:solidFill>
                  <a:srgbClr val="007A87"/>
                </a:solidFill>
                <a:latin typeface="Calibri"/>
              </a:rPr>
              <a:t>• Module D: 2D PCA Cluster Explorer:
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Interactive PCA projection with live county and cluster filters, dynamic facility search, and instant filtered CSV download.</a:t>
            </a:r>
          </a:p>
          <a:p>
            <a:pPr>
              <a:spcBef>
                <a:spcPts val="500"/>
              </a:spcBef>
            </a:pPr>
            <a:r>
              <a:rPr sz="950" b="1" i="0">
                <a:solidFill>
                  <a:srgbClr val="007A87"/>
                </a:solidFill>
                <a:latin typeface="Calibri"/>
              </a:rPr>
              <a:t>• Module E: Tri-Model Benchmark Table:
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Complete quantitative comparison table evaluating K-Means, Agglomerative, and DBSCAN across Silhouette, DB, and CH metrics.</a:t>
            </a:r>
          </a:p>
          <a:p>
            <a:pPr>
              <a:spcBef>
                <a:spcPts val="500"/>
              </a:spcBef>
            </a:pPr>
            <a:r>
              <a:rPr sz="950" b="1" i="0">
                <a:solidFill>
                  <a:srgbClr val="007A87"/>
                </a:solidFill>
                <a:latin typeface="Calibri"/>
              </a:rPr>
              <a:t>• Module F: Insights &amp; Limitations:
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Actionable health policy takeaways, clinical non-causality disclaimers, and academic integrity verification checklists.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7A87"/>
                </a:solidFill>
              </a:defRPr>
            </a:pPr>
            <a:r>
              <a:t>CONCLUSION &amp; OUTLOOK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Conclusion, Limitations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01168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65392"/>
            <a:ext cx="108173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8090A0"/>
                </a:solidFill>
              </a:defRPr>
            </a:pPr>
            <a:r>
              <a:t>CA3 Machine Learning Mini-Project  |  Healthcare Facility Analytics  |  Yesh Raheja (23070521174) &amp; Aditya Gurve (23070521231)  | 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344728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3447288" cy="32918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179576"/>
            <a:ext cx="31729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I. Core Project Conclusions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545336"/>
            <a:ext cx="315468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07A87"/>
                </a:solidFill>
                <a:latin typeface="Calibri"/>
              </a:rPr>
              <a:t>• End-to-End Execution: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Built complete automated ingestion, schema validation, 8-feature engineering, and live dashboard.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Empirical Model Selection: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K-Means at k=4 validated as mathematically robust (Sil=0.6113, DB=0.5768, CH=655.84).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Acute Care Vulnerability: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90.7% of California hospitals operate on thin +0.93% margins, highly sensitive to labor inflation.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Specialty Surgical Velocity: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Specialty centers generate nearly 3x higher revenue per bed ($3.58M) despite lower occupancy (33.0%).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007A87"/>
                </a:solidFill>
                <a:latin typeface="Calibri"/>
              </a:rPr>
              <a:t>• Academic Deliverables: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6-page IEEE paper, 15 verified citations, and reproducible GitHub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143000"/>
            <a:ext cx="344728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143000"/>
            <a:ext cx="3447288" cy="329184"/>
          </a:xfrm>
          <a:prstGeom prst="rect">
            <a:avLst/>
          </a:prstGeom>
          <a:solidFill>
            <a:srgbClr val="B92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179576"/>
            <a:ext cx="31729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II. Methodological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545336"/>
            <a:ext cx="315468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B92319"/>
                </a:solidFill>
                <a:latin typeface="Calibri"/>
              </a:rPr>
              <a:t>• Strict Non-Causal Scope: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Unsupervised clustering discovers geometrical associations; it does not prove clinical care quality or patient mortality.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B92319"/>
                </a:solidFill>
                <a:latin typeface="Calibri"/>
              </a:rPr>
              <a:t>• Public Accounting Heterogeneity: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Government facilities report under public fund accounting, creating statutory deficits distinct from private GAAP filings.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B92319"/>
                </a:solidFill>
                <a:latin typeface="Calibri"/>
              </a:rPr>
              <a:t>• Omission of Patient Acuity: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Disclosures lack electronic health records (EHR) and Case Mix Index (CMI) severity adjustments.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B92319"/>
                </a:solidFill>
                <a:latin typeface="Calibri"/>
              </a:rPr>
              <a:t>• Single-State Regulatory Boundary: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Trained on California HCAI filings; interstate validation requires multi-state federation.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1143000"/>
            <a:ext cx="344728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5864" y="1143000"/>
            <a:ext cx="3447288" cy="329184"/>
          </a:xfrm>
          <a:prstGeom prst="rect">
            <a:avLst/>
          </a:prstGeom>
          <a:solidFill>
            <a:srgbClr val="1A4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4" y="1179576"/>
            <a:ext cx="31729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III. Administrative Policy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1545336"/>
            <a:ext cx="315468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1A446C"/>
                </a:solidFill>
                <a:latin typeface="Calibri"/>
              </a:rPr>
              <a:t>• Peer-Matched Benchmarks: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State health agencies must evaluate general acute hospitals against peer clusters, not monolithic averages.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1A446C"/>
                </a:solidFill>
                <a:latin typeface="Calibri"/>
              </a:rPr>
              <a:t>• Buffer Capped-Rate Pressures: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Provide targeted rate stabilization for acute facilities with Medicare/Medicaid payer ratios &gt; 65%.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1A446C"/>
                </a:solidFill>
                <a:latin typeface="Calibri"/>
              </a:rPr>
              <a:t>• Subacute Bed Redeployment: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Incentivize conversion of underutilized acute beds into subacute recovery and rehab units.</a:t>
            </a:r>
          </a:p>
          <a:p>
            <a:pPr>
              <a:spcBef>
                <a:spcPts val="350"/>
              </a:spcBef>
            </a:pPr>
            <a:r>
              <a:rPr sz="900" b="1" i="0">
                <a:solidFill>
                  <a:srgbClr val="1A446C"/>
                </a:solidFill>
                <a:latin typeface="Calibri"/>
              </a:rPr>
              <a:t>• Specialty Center Oversight: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Monitor surgical center expansion to ensure essential trauma and emergency readiness.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681728"/>
            <a:ext cx="532180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4681728"/>
            <a:ext cx="5321808" cy="329184"/>
          </a:xfrm>
          <a:prstGeom prst="rect">
            <a:avLst/>
          </a:prstGeom>
          <a:solidFill>
            <a:srgbClr val="00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718304"/>
            <a:ext cx="50474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IV. Future Scope: Longitudinal Markov Tracking &amp; Clinical EHR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5084064"/>
            <a:ext cx="502920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0555F"/>
                </a:solidFill>
                <a:latin typeface="Calibri"/>
              </a:rPr>
              <a:t>• Multi-Period Markov Transitions: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Extend pipeline to longitudinal 5-year Markov transition matrices to track how facilities migrate between operational clusters over economic and reimbursement cycles.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0555F"/>
                </a:solidFill>
                <a:latin typeface="Calibri"/>
              </a:rPr>
              <a:t>• Clinical Quality Federation: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Federate CMS 30-day readmissions, hospital-acquired infection (HAI) rates, and HCAHPS patient experience scores with financial indicators to model the trade-off between fiscal margins and care outcomes.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4681728"/>
            <a:ext cx="532180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53912" y="4681728"/>
            <a:ext cx="5321808" cy="32918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91072" y="4718304"/>
            <a:ext cx="50474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V. Technology Transfer: Automated Fiscal Distress Early Warnings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5084064"/>
            <a:ext cx="502920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2540"/>
                </a:solidFill>
                <a:latin typeface="Calibri"/>
              </a:rPr>
              <a:t>• Predictive Fiscal Early Warning: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Train supervised gradient-boosted classifiers on historical transition labels to detect facilities at imminent risk of slipping into acute fiscal distress 2-4 quarters in advance.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A2540"/>
                </a:solidFill>
                <a:latin typeface="Calibri"/>
              </a:rPr>
              <a:t>• Multi-State Pipeline Scaling: </a:t>
            </a:r>
            <a:r>
              <a:rPr sz="850" b="0" i="0">
                <a:solidFill>
                  <a:srgbClr val="192330"/>
                </a:solidFill>
                <a:latin typeface="Calibri"/>
              </a:rPr>
              <a:t>Scale the data ingestion architecture to federate hospital disclosures across Texas (DSHS), New York (SPARCS), and Florida (AHCA) health agencies for nationwide cross-validation.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5391</Words>
  <Application>Microsoft Office PowerPoint</Application>
  <PresentationFormat>Widescreen</PresentationFormat>
  <Paragraphs>436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Yesh Raheja, Aditya Gurve</dc:creator>
  <cp:keywords/>
  <dc:description>generated using python-pptx</dc:description>
  <cp:lastModifiedBy>Yesh Raheja</cp:lastModifiedBy>
  <cp:revision>1</cp:revision>
  <dcterms:created xsi:type="dcterms:W3CDTF">2013-01-27T09:14:16Z</dcterms:created>
  <dcterms:modified xsi:type="dcterms:W3CDTF">2026-10-24T10:55:26Z</dcterms:modified>
  <cp:category/>
</cp:coreProperties>
</file>