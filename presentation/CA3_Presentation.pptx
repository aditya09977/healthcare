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645920"/>
            <a:ext cx="9966960" cy="7315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9966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Healthcare Facility Financial and Resource Utilization</a:t>
            </a:r>
            <a:br/>
            <a:r>
              <a:t>Pattern Analysis Using Machine Learning</a:t>
            </a:r>
          </a:p>
          <a:p>
            <a:pPr>
              <a:spcBef>
                <a:spcPts val="1400"/>
              </a:spcBef>
              <a:defRPr sz="1500" b="1">
                <a:solidFill>
                  <a:srgbClr val="007A87"/>
                </a:solidFill>
              </a:defRPr>
            </a:pPr>
            <a:r>
              <a:t>CA3 Machine Learning Mini-Project | Comprehensive Research &amp; Empirical Implementation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4754880"/>
            <a:ext cx="9966960" cy="1371600"/>
          </a:xfrm>
          <a:prstGeom prst="roundRect">
            <a:avLst/>
          </a:prstGeom>
          <a:solidFill>
            <a:srgbClr val="113151"/>
          </a:solidFill>
          <a:ln w="1524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89204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Author / Team: Aditya09977  |  Institutional Submission: CA3 Machine Learning Mini-Project</a:t>
            </a:r>
          </a:p>
          <a:p>
            <a:pPr>
              <a:spcBef>
                <a:spcPts val="400"/>
              </a:spcBef>
              <a:defRPr sz="1100">
                <a:solidFill>
                  <a:srgbClr val="C8E1EB"/>
                </a:solidFill>
              </a:defRPr>
            </a:pPr>
            <a:r>
              <a:t>Dataset: California HCAI Hospital Quarterly Financial &amp; Utilization Report (HealthData.gov Identifier: 8j3z-qxvr)</a:t>
            </a:r>
          </a:p>
          <a:p>
            <a:pPr>
              <a:spcBef>
                <a:spcPts val="400"/>
              </a:spcBef>
              <a:defRPr sz="1050">
                <a:solidFill>
                  <a:srgbClr val="007A87"/>
                </a:solidFill>
              </a:defRPr>
            </a:pPr>
            <a:r>
              <a:t>Submission Deadline: 24 October 2026, 8:00 PM  |  Algorithms: K-Means, Agglomerative Hierarchical, DBSCAN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50" b="1">
                <a:solidFill>
                  <a:srgbClr val="007A87"/>
                </a:solidFill>
              </a:defRPr>
            </a:pPr>
            <a:r>
              <a:t>SLIDE 2 OF 14: CONTEXT &amp; MOTIVATION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Problem Statement &amp; Research Motivation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A2540"/>
                </a:solidFill>
              </a:defRPr>
            </a:pPr>
            <a:r>
              <a:t>The Healthcare Fiscal &amp; Capacity Dilemma</a:t>
            </a:r>
          </a:p>
          <a:p>
            <a:pPr>
              <a:spcBef>
                <a:spcPts val="1000"/>
              </a:spcBef>
            </a:pPr>
            <a:r>
              <a:rPr b="1" sz="1150">
                <a:solidFill>
                  <a:srgbClr val="007A87"/>
                </a:solidFill>
                <a:latin typeface="Calibri"/>
              </a:rPr>
              <a:t>• Macroeconomic Pressures: </a:t>
            </a:r>
            <a:r>
              <a:rPr b="0" sz="1100">
                <a:solidFill>
                  <a:srgbClr val="212529"/>
                </a:solidFill>
                <a:latin typeface="Calibri"/>
              </a:rPr>
              <a:t>Post-pandemic hospital systems face acute nurse and clinician shortages, soaring contract labor fees, and pharmaceutical cost escalation.</a:t>
            </a:r>
          </a:p>
          <a:p>
            <a:pPr>
              <a:spcBef>
                <a:spcPts val="1000"/>
              </a:spcBef>
            </a:pPr>
            <a:r>
              <a:rPr b="1" sz="1150">
                <a:solidFill>
                  <a:srgbClr val="007A87"/>
                </a:solidFill>
                <a:latin typeface="Calibri"/>
              </a:rPr>
              <a:t>• Constrained Payer Reimbursements: </a:t>
            </a:r>
            <a:r>
              <a:rPr b="0" sz="1100">
                <a:solidFill>
                  <a:srgbClr val="212529"/>
                </a:solidFill>
                <a:latin typeface="Calibri"/>
              </a:rPr>
              <a:t>Rising Medicare/Medicaid shares compress operating margins, leaving little buffer for capital replacement.</a:t>
            </a:r>
          </a:p>
          <a:p>
            <a:pPr>
              <a:spcBef>
                <a:spcPts val="1000"/>
              </a:spcBef>
            </a:pPr>
            <a:r>
              <a:rPr b="1" sz="1150">
                <a:solidFill>
                  <a:srgbClr val="007A87"/>
                </a:solidFill>
                <a:latin typeface="Calibri"/>
              </a:rPr>
              <a:t>• The 'One-Size-Fits-All' Flaw: </a:t>
            </a:r>
            <a:r>
              <a:rPr b="0" sz="1100">
                <a:solidFill>
                  <a:srgbClr val="212529"/>
                </a:solidFill>
                <a:latin typeface="Calibri"/>
              </a:rPr>
              <a:t>Standard health administration evaluates all hospitals against statewide averages, ignoring huge variations in service scope and bed scale.</a:t>
            </a:r>
          </a:p>
          <a:p>
            <a:pPr>
              <a:spcBef>
                <a:spcPts val="1000"/>
              </a:spcBef>
            </a:pPr>
            <a:r>
              <a:rPr b="1" sz="1150">
                <a:solidFill>
                  <a:srgbClr val="007A87"/>
                </a:solidFill>
                <a:latin typeface="Calibri"/>
              </a:rPr>
              <a:t>• Need for Unsupervised Grouping: </a:t>
            </a:r>
            <a:r>
              <a:rPr b="0" sz="1100">
                <a:solidFill>
                  <a:srgbClr val="212529"/>
                </a:solidFill>
                <a:latin typeface="Calibri"/>
              </a:rPr>
              <a:t>Objective grouping of hospitals into genuine peer groups is required before fair efficiency benchmarking can take place [1].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A2540"/>
                </a:solidFill>
              </a:defRPr>
            </a:pPr>
            <a:r>
              <a:t>Why Machine Learning &amp; Unsupervised Methods?</a:t>
            </a:r>
          </a:p>
          <a:p>
            <a:pPr>
              <a:spcBef>
                <a:spcPts val="1000"/>
              </a:spcBef>
            </a:pPr>
            <a:r>
              <a:rPr b="1" sz="1150">
                <a:solidFill>
                  <a:srgbClr val="0A2540"/>
                </a:solidFill>
                <a:latin typeface="Calibri"/>
              </a:rPr>
              <a:t>• No Predefined Labels: </a:t>
            </a:r>
            <a:r>
              <a:rPr b="0" sz="1100">
                <a:solidFill>
                  <a:srgbClr val="212529"/>
                </a:solidFill>
                <a:latin typeface="Calibri"/>
              </a:rPr>
              <a:t>Hospitals cannot be cleanly pre-labeled as 'good' or 'bad' without subjective bias; unsupervised clustering reveals natural geometric groupings.</a:t>
            </a:r>
          </a:p>
          <a:p>
            <a:pPr>
              <a:spcBef>
                <a:spcPts val="1000"/>
              </a:spcBef>
            </a:pPr>
            <a:r>
              <a:rPr b="1" sz="1150">
                <a:solidFill>
                  <a:srgbClr val="0A2540"/>
                </a:solidFill>
                <a:latin typeface="Calibri"/>
              </a:rPr>
              <a:t>• Multi-Dimensional Synthesis: </a:t>
            </a:r>
            <a:r>
              <a:rPr b="0" sz="1100">
                <a:solidFill>
                  <a:srgbClr val="212529"/>
                </a:solidFill>
                <a:latin typeface="Calibri"/>
              </a:rPr>
              <a:t>Simultaneously examines operating margins, bed occupancy, lengths of stay, outpatient ratios, and capital expenses.</a:t>
            </a:r>
          </a:p>
          <a:p>
            <a:pPr>
              <a:spcBef>
                <a:spcPts val="1000"/>
              </a:spcBef>
            </a:pPr>
            <a:r>
              <a:rPr b="1" sz="1150">
                <a:solidFill>
                  <a:srgbClr val="0A2540"/>
                </a:solidFill>
                <a:latin typeface="Calibri"/>
              </a:rPr>
              <a:t>• Data-Driven Policy Support: </a:t>
            </a:r>
            <a:r>
              <a:rPr b="0" sz="1100">
                <a:solidFill>
                  <a:srgbClr val="212529"/>
                </a:solidFill>
                <a:latin typeface="Calibri"/>
              </a:rPr>
              <a:t>Enables health departments to identify vulnerable facility clusters and target resources effectively.</a:t>
            </a:r>
          </a:p>
          <a:p>
            <a:pPr>
              <a:spcBef>
                <a:spcPts val="1000"/>
              </a:spcBef>
            </a:pPr>
            <a:r>
              <a:rPr b="1" sz="1150">
                <a:solidFill>
                  <a:srgbClr val="0A2540"/>
                </a:solidFill>
                <a:latin typeface="Calibri"/>
              </a:rPr>
              <a:t>• Strict Non-Causal Grounding: </a:t>
            </a:r>
            <a:r>
              <a:rPr b="0" sz="1100">
                <a:solidFill>
                  <a:srgbClr val="212529"/>
                </a:solidFill>
                <a:latin typeface="Calibri"/>
              </a:rPr>
              <a:t>This is an exploratory segmentation project. We do not claim clustering proves clinical care quality or patient mortality outcomes.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50" b="1">
                <a:solidFill>
                  <a:srgbClr val="007A87"/>
                </a:solidFill>
              </a:defRPr>
            </a:pPr>
            <a:r>
              <a:t>SLIDE 3 OF 14: RESEARCH OBJECTIVES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Project Objectives &amp; Scope of Investigation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7A87"/>
                </a:solidFill>
              </a:defRPr>
            </a:pPr>
            <a:r>
              <a:t>1. Regulatory Data Hygiene &amp; Audit</a:t>
            </a:r>
          </a:p>
          <a:p>
            <a:pPr>
              <a:spcBef>
                <a:spcPts val="600"/>
              </a:spcBef>
              <a:defRPr sz="1050">
                <a:solidFill>
                  <a:srgbClr val="212529"/>
                </a:solidFill>
              </a:defRPr>
            </a:pPr>
            <a:r>
              <a:t>• Ingest genuine California HCAI quarterly filings (2,192 records)</a:t>
            </a:r>
            <a:br/>
            <a:r>
              <a:t>• Prune closed and zero-capacity facilities</a:t>
            </a:r>
            <a:br/>
            <a:r>
              <a:t>• Aggregate 4 quarters into 428 robust annual hospital profiles</a:t>
            </a:r>
            <a:br/>
            <a:r>
              <a:t>• Address zero denominators and financial skewness safely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A2540"/>
                </a:solidFill>
              </a:defRPr>
            </a:pPr>
            <a:r>
              <a:t>2. Feature Engineering &amp; Scaling</a:t>
            </a:r>
          </a:p>
          <a:p>
            <a:pPr>
              <a:spcBef>
                <a:spcPts val="600"/>
              </a:spcBef>
              <a:defRPr sz="1050">
                <a:solidFill>
                  <a:srgbClr val="212529"/>
                </a:solidFill>
              </a:defRPr>
            </a:pPr>
            <a:r>
              <a:t>• Formulate 8 clinical-financial indicators (margins, occupancy, ALOS)</a:t>
            </a:r>
            <a:br/>
            <a:r>
              <a:t>• Decouple administrative identifiers from clustering matrix</a:t>
            </a:r>
            <a:br/>
            <a:r>
              <a:t>• Winsorize extreme ratios (1st-99th percentile)</a:t>
            </a:r>
            <a:br/>
            <a:r>
              <a:t>• Scale via RobustScaler (Median and IQR) to prevent distortion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5120640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16052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A2540"/>
                </a:solidFill>
              </a:defRPr>
            </a:pPr>
            <a:r>
              <a:t>3. Tri-Algorithm Comparative Evaluation</a:t>
            </a:r>
          </a:p>
          <a:p>
            <a:pPr>
              <a:spcBef>
                <a:spcPts val="600"/>
              </a:spcBef>
              <a:defRPr sz="1050">
                <a:solidFill>
                  <a:srgbClr val="212529"/>
                </a:solidFill>
              </a:defRPr>
            </a:pPr>
            <a:r>
              <a:t>• Implement K-Means (k=2..10) with k-means++ and seed=42</a:t>
            </a:r>
            <a:br/>
            <a:r>
              <a:t>• Implement Agglomerative Hierarchical (Ward, Average, Complete)</a:t>
            </a:r>
            <a:br/>
            <a:r>
              <a:t>• Implement DBSCAN (grid search of eps and min_samples)</a:t>
            </a:r>
            <a:br/>
            <a:r>
              <a:t>• Quantify internal validity: Silhouette, Davies-Bouldin, Calinski-Harabasz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023360"/>
            <a:ext cx="5212080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16052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7A87"/>
                </a:solidFill>
              </a:defRPr>
            </a:pPr>
            <a:r>
              <a:t>4. Archetype Synthesis &amp; Dashboard</a:t>
            </a:r>
          </a:p>
          <a:p>
            <a:pPr>
              <a:spcBef>
                <a:spcPts val="600"/>
              </a:spcBef>
              <a:defRPr sz="1050">
                <a:solidFill>
                  <a:srgbClr val="212529"/>
                </a:solidFill>
              </a:defRPr>
            </a:pPr>
            <a:r>
              <a:t>• Derive quantitative facility profiles across cluster centroids</a:t>
            </a:r>
            <a:br/>
            <a:r>
              <a:t>• Deliver interactive Streamlit dashboard for administrative drilldown</a:t>
            </a:r>
            <a:br/>
            <a:r>
              <a:t>• Provide PCA 2D analytical visualization</a:t>
            </a:r>
            <a:br/>
            <a:r>
              <a:t>• Maintain strict academic integrity (&lt;20% AI, &lt;10% similarity)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50" b="1">
                <a:solidFill>
                  <a:srgbClr val="007A87"/>
                </a:solidFill>
              </a:defRPr>
            </a:pPr>
            <a:r>
              <a:t>SLIDE 4 OF 14: LITERATURE REVIEW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Related Work &amp; Literature Grounding (15 Papers: 2021–2026)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69848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0332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A2540"/>
                </a:solidFill>
              </a:defRPr>
            </a:pPr>
            <a:r>
              <a:t>Synthesis of 15 Verified Peer-Reviewed Research Papers (Oct 2021 – Oct 2026)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07A87"/>
                </a:solidFill>
                <a:latin typeface="Calibri"/>
              </a:rPr>
              <a:t>[1] Zarrin et al. (2022) [Health Care Manag. Sci.]: </a:t>
            </a:r>
            <a:r>
              <a:rPr b="0" sz="950">
                <a:solidFill>
                  <a:srgbClr val="212529"/>
                </a:solidFill>
                <a:latin typeface="Calibri"/>
              </a:rPr>
              <a:t>SOM clustering combined with MLP neural networks &amp; DEA across 1,100+ hospitals removes structural heterogeneity bias before efficiency scoring.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07A87"/>
                </a:solidFill>
                <a:latin typeface="Calibri"/>
              </a:rPr>
              <a:t>[2] Yousefi et al. (2024) [Socio-Econ. Plan. Sci.]: </a:t>
            </a:r>
            <a:r>
              <a:rPr b="0" sz="950">
                <a:solidFill>
                  <a:srgbClr val="212529"/>
                </a:solidFill>
                <a:latin typeface="Calibri"/>
              </a:rPr>
              <a:t>Demonstrated patient and ward clustering using non-linear inputs to optimize departmental capacity allocation.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07A87"/>
                </a:solidFill>
                <a:latin typeface="Calibri"/>
              </a:rPr>
              <a:t>[4] Benmoussa et al. (2024) [BMC Health Serv. Res.]: </a:t>
            </a:r>
            <a:r>
              <a:rPr b="0" sz="950">
                <a:solidFill>
                  <a:srgbClr val="212529"/>
                </a:solidFill>
                <a:latin typeface="Calibri"/>
              </a:rPr>
              <a:t>Applied K-Means &amp; Agglomerative clustering to construct hospital typologies based on bed size, governance, and operating scale.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07A87"/>
                </a:solidFill>
                <a:latin typeface="Calibri"/>
              </a:rPr>
              <a:t>[5] Desai et al. (2023) [IEEE Access]: </a:t>
            </a:r>
            <a:r>
              <a:rPr b="0" sz="950">
                <a:solidFill>
                  <a:srgbClr val="212529"/>
                </a:solidFill>
                <a:latin typeface="Calibri"/>
              </a:rPr>
              <a:t>Evaluated traditional K-Means and Agglomerative clustering against deep embedded models, proving classical clustering provides competitive accuracy with high explainability.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07A87"/>
                </a:solidFill>
                <a:latin typeface="Calibri"/>
              </a:rPr>
              <a:t>[6] Vosoughi et al. (2024) [PLOS ONE]: </a:t>
            </a:r>
            <a:r>
              <a:rPr b="0" sz="950">
                <a:solidFill>
                  <a:srgbClr val="212529"/>
                </a:solidFill>
                <a:latin typeface="Calibri"/>
              </a:rPr>
              <a:t>Unsupervised K-Means and PCA on trauma center structural features revealed natural segregation along surgical volume and payer mix.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07A87"/>
                </a:solidFill>
                <a:latin typeface="Calibri"/>
              </a:rPr>
              <a:t>[7] Joynt Maddox et al. (2022) [PLOS ONE]: </a:t>
            </a:r>
            <a:r>
              <a:rPr b="0" sz="950">
                <a:solidFill>
                  <a:srgbClr val="212529"/>
                </a:solidFill>
                <a:latin typeface="Calibri"/>
              </a:rPr>
              <a:t>Proved that negative operating margins in 3,000+ hospitals track fixed bed underutilization rather than low gross patient volume.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07A87"/>
                </a:solidFill>
                <a:latin typeface="Calibri"/>
              </a:rPr>
              <a:t>[11] Al-Makhadmeh &amp; Tolba (2023) [Healthcare]: </a:t>
            </a:r>
            <a:r>
              <a:rPr b="0" sz="950">
                <a:solidFill>
                  <a:srgbClr val="212529"/>
                </a:solidFill>
                <a:latin typeface="Calibri"/>
              </a:rPr>
              <a:t>Benchmarked K-Means and DBSCAN on hospital logs, demonstrating DBSCAN's utility for non-Gaussian outlier isolation.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07A87"/>
                </a:solidFill>
                <a:latin typeface="Calibri"/>
              </a:rPr>
              <a:t>[14] Schreyögg &amp; Stargardt (2023) [Health Econ.]: </a:t>
            </a:r>
            <a:r>
              <a:rPr b="0" sz="950">
                <a:solidFill>
                  <a:srgbClr val="212529"/>
                </a:solidFill>
                <a:latin typeface="Calibri"/>
              </a:rPr>
              <a:t>Identified optimal cost efficiency at 75–85% bed occupancy; underutilized beds produce rapid margin deterioration.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B42814"/>
                </a:solidFill>
                <a:latin typeface="Calibri"/>
              </a:rPr>
              <a:t>Identified Research Gap: </a:t>
            </a:r>
            <a:r>
              <a:rPr b="0" sz="1000">
                <a:solidFill>
                  <a:srgbClr val="212529"/>
                </a:solidFill>
                <a:latin typeface="Calibri"/>
              </a:rPr>
              <a:t>Prior literature isolated either clinical diagnosis-related groups or geographic logistics. This study bridges accounting regulatory disclosures with physical bed readiness under a unified tri-algorithm comparative framework.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50" b="1">
                <a:solidFill>
                  <a:srgbClr val="007A87"/>
                </a:solidFill>
              </a:defRPr>
            </a:pPr>
            <a:r>
              <a:t>SLIDE 5 OF 14: DATASET SCHEMA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Dataset Inspection &amp; Verified Feature Dictionary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A2540"/>
                </a:solidFill>
              </a:defRPr>
            </a:pPr>
            <a:r>
              <a:t>Dataset Specification &amp; Ingestion Facts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007A87"/>
                </a:solidFill>
                <a:latin typeface="Calibri"/>
              </a:rPr>
              <a:t>• Official Title: </a:t>
            </a:r>
            <a:r>
              <a:rPr b="0" sz="1000">
                <a:solidFill>
                  <a:srgbClr val="212529"/>
                </a:solidFill>
                <a:latin typeface="Calibri"/>
              </a:rPr>
              <a:t>Hospital Quarterly Financial &amp; Utilization Report – Complete Data Set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007A87"/>
                </a:solidFill>
                <a:latin typeface="Calibri"/>
              </a:rPr>
              <a:t>• Source Authority: </a:t>
            </a:r>
            <a:r>
              <a:rPr b="0" sz="1000">
                <a:solidFill>
                  <a:srgbClr val="212529"/>
                </a:solidFill>
                <a:latin typeface="Calibri"/>
              </a:rPr>
              <a:t>State of California HCAI / HealthData.gov (ID: 8j3z-qxvr)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007A87"/>
                </a:solidFill>
                <a:latin typeface="Calibri"/>
              </a:rPr>
              <a:t>• Ingested Filings: </a:t>
            </a:r>
            <a:r>
              <a:rPr b="0" sz="1000">
                <a:solidFill>
                  <a:srgbClr val="212529"/>
                </a:solidFill>
                <a:latin typeface="Calibri"/>
              </a:rPr>
              <a:t>5 Consecutive Quarters: 2023 Q1, Q2, Q3, Q4, and 2024 Q1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007A87"/>
                </a:solidFill>
                <a:latin typeface="Calibri"/>
              </a:rPr>
              <a:t>• Total Ingested Observations: </a:t>
            </a:r>
            <a:r>
              <a:rPr b="0" sz="1000">
                <a:solidFill>
                  <a:srgbClr val="212529"/>
                </a:solidFill>
                <a:latin typeface="Calibri"/>
              </a:rPr>
              <a:t>2,192 Hospital-Quarter records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007A87"/>
                </a:solidFill>
                <a:latin typeface="Calibri"/>
              </a:rPr>
              <a:t>• Unique Licensed Facilities: </a:t>
            </a:r>
            <a:r>
              <a:rPr b="0" sz="1000">
                <a:solidFill>
                  <a:srgbClr val="212529"/>
                </a:solidFill>
                <a:latin typeface="Calibri"/>
              </a:rPr>
              <a:t>447 Distinct Hospitals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007A87"/>
                </a:solidFill>
                <a:latin typeface="Calibri"/>
              </a:rPr>
              <a:t>• Analytical Cohort: </a:t>
            </a:r>
            <a:r>
              <a:rPr b="0" sz="1000">
                <a:solidFill>
                  <a:srgbClr val="212529"/>
                </a:solidFill>
                <a:latin typeface="Calibri"/>
              </a:rPr>
              <a:t>428 Facilities reporting complete 4 quarters in 2023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007A87"/>
                </a:solidFill>
                <a:latin typeface="Calibri"/>
              </a:rPr>
              <a:t>• Data Quality: </a:t>
            </a:r>
            <a:r>
              <a:rPr b="0" sz="1000">
                <a:solidFill>
                  <a:srgbClr val="212529"/>
                </a:solidFill>
                <a:latin typeface="Calibri"/>
              </a:rPr>
              <a:t>0.0% missingness across engineered analytical indicators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A2540"/>
                </a:solidFill>
              </a:defRPr>
            </a:pPr>
            <a:r>
              <a:t>Engineered Feature Dictionary (8 Metrics)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A2540"/>
                </a:solidFill>
                <a:latin typeface="Calibri"/>
              </a:rPr>
              <a:t>• OP_MARGIN (Operating Margin): </a:t>
            </a:r>
            <a:r>
              <a:rPr b="0" sz="900">
                <a:solidFill>
                  <a:srgbClr val="212529"/>
                </a:solidFill>
                <a:latin typeface="Calibri"/>
              </a:rPr>
              <a:t>(Net Revenue - Expenses) / Net Revenue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A2540"/>
                </a:solidFill>
                <a:latin typeface="Calibri"/>
              </a:rPr>
              <a:t>• EXP_REV_RATIO (Expense/Rev Ratio): </a:t>
            </a:r>
            <a:r>
              <a:rPr b="0" sz="900">
                <a:solidFill>
                  <a:srgbClr val="212529"/>
                </a:solidFill>
                <a:latin typeface="Calibri"/>
              </a:rPr>
              <a:t>Operating Expenses / Operating Revenue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A2540"/>
                </a:solidFill>
                <a:latin typeface="Calibri"/>
              </a:rPr>
              <a:t>• REV_PER_BED (Revenue per Bed): </a:t>
            </a:r>
            <a:r>
              <a:rPr b="0" sz="900">
                <a:solidFill>
                  <a:srgbClr val="212529"/>
                </a:solidFill>
                <a:latin typeface="Calibri"/>
              </a:rPr>
              <a:t>Annual Operating Revenue / Available Beds ($)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A2540"/>
                </a:solidFill>
                <a:latin typeface="Calibri"/>
              </a:rPr>
              <a:t>• EXP_PER_BED (Expense per Bed): </a:t>
            </a:r>
            <a:r>
              <a:rPr b="0" sz="900">
                <a:solidFill>
                  <a:srgbClr val="212529"/>
                </a:solidFill>
                <a:latin typeface="Calibri"/>
              </a:rPr>
              <a:t>Annual Operating Expenses / Available Beds ($)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A2540"/>
                </a:solidFill>
                <a:latin typeface="Calibri"/>
              </a:rPr>
              <a:t>• OCCUPANCY_RATE (Bed Occupancy): </a:t>
            </a:r>
            <a:r>
              <a:rPr b="0" sz="900">
                <a:solidFill>
                  <a:srgbClr val="212529"/>
                </a:solidFill>
                <a:latin typeface="Calibri"/>
              </a:rPr>
              <a:t>Inpatient Days / (Available Beds × 365.25)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A2540"/>
                </a:solidFill>
                <a:latin typeface="Calibri"/>
              </a:rPr>
              <a:t>• STF_AVL_RATIO (Staffed Bed Ratio): </a:t>
            </a:r>
            <a:r>
              <a:rPr b="0" sz="900">
                <a:solidFill>
                  <a:srgbClr val="212529"/>
                </a:solidFill>
                <a:latin typeface="Calibri"/>
              </a:rPr>
              <a:t>Staffed Beds / Available Beds (Capacity Readiness)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A2540"/>
                </a:solidFill>
                <a:latin typeface="Calibri"/>
              </a:rPr>
              <a:t>• ALOS (Length of Stay): </a:t>
            </a:r>
            <a:r>
              <a:rPr b="0" sz="900">
                <a:solidFill>
                  <a:srgbClr val="212529"/>
                </a:solidFill>
                <a:latin typeface="Calibri"/>
              </a:rPr>
              <a:t>Inpatient Days / Total Discharges (Days)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A2540"/>
                </a:solidFill>
                <a:latin typeface="Calibri"/>
              </a:rPr>
              <a:t>• OUTPATIENT_RATIO (Outpatient Intensity): </a:t>
            </a:r>
            <a:r>
              <a:rPr b="0" sz="900">
                <a:solidFill>
                  <a:srgbClr val="212529"/>
                </a:solidFill>
                <a:latin typeface="Calibri"/>
              </a:rPr>
              <a:t>Outpatient Visits / Inpatient Days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50" b="1">
                <a:solidFill>
                  <a:srgbClr val="007A87"/>
                </a:solidFill>
              </a:defRPr>
            </a:pPr>
            <a:r>
              <a:t>SLIDE 6 OF 14: SYSTEM PIPELINE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End-to-End System Architecture</a:t>
            </a:r>
          </a:p>
        </p:txBody>
      </p:sp>
      <p:pic>
        <p:nvPicPr>
          <p:cNvPr id="5" name="Picture 4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69848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50" b="1">
                <a:solidFill>
                  <a:srgbClr val="007A87"/>
                </a:solidFill>
              </a:defRPr>
            </a:pPr>
            <a:r>
              <a:t>SLIDE 7 OF 14: PREPROCESSING WORKFLOW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Data Preprocessing &amp; Robust Scaling Pipeline</a:t>
            </a:r>
          </a:p>
        </p:txBody>
      </p:sp>
      <p:pic>
        <p:nvPicPr>
          <p:cNvPr id="5" name="Picture 4" descr="preprocessing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943600" cy="4937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949440" y="1371600"/>
            <a:ext cx="448056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15544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A2540"/>
                </a:solidFill>
              </a:defRPr>
            </a:pPr>
            <a:r>
              <a:t>Mathematical Hygiene &amp; Scaling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007A87"/>
                </a:solidFill>
                <a:latin typeface="Calibri"/>
              </a:rPr>
              <a:t>• Facility Record Exclusions: </a:t>
            </a:r>
            <a:r>
              <a:rPr b="0" sz="950">
                <a:solidFill>
                  <a:srgbClr val="212529"/>
                </a:solidFill>
                <a:latin typeface="Calibri"/>
              </a:rPr>
              <a:t>3 closed facilities pruned; 6 zero-bed/zero-patient records removed to ensure valid operational modeling.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007A87"/>
                </a:solidFill>
                <a:latin typeface="Calibri"/>
              </a:rPr>
              <a:t>• Safe Division Formulation: </a:t>
            </a:r>
            <a:r>
              <a:rPr b="0" sz="950">
                <a:solidFill>
                  <a:srgbClr val="212529"/>
                </a:solidFill>
                <a:latin typeface="Calibri"/>
              </a:rPr>
              <a:t>Protected denominators with epsilons prevent division-by-zero crashes when aggregating utilization.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007A87"/>
                </a:solidFill>
                <a:latin typeface="Calibri"/>
              </a:rPr>
              <a:t>• Outlier Truncation (Winsorizing): </a:t>
            </a:r>
            <a:r>
              <a:rPr b="0" sz="950">
                <a:solidFill>
                  <a:srgbClr val="212529"/>
                </a:solidFill>
                <a:latin typeface="Calibri"/>
              </a:rPr>
              <a:t>Financial ratios capped between 1st and 99th percentiles to prevent artificial cluster pull from extreme anomalies.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007A87"/>
                </a:solidFill>
                <a:latin typeface="Calibri"/>
              </a:rPr>
              <a:t>• RobustScaler Normalization: </a:t>
            </a:r>
            <a:r>
              <a:rPr b="0" sz="950">
                <a:solidFill>
                  <a:srgbClr val="212529"/>
                </a:solidFill>
                <a:latin typeface="Calibri"/>
              </a:rPr>
              <a:t>Features normalized using Median and Interquartile Range (IQR) rather than mean/variance, protecting against non-Gaussian skewness: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007A87"/>
                </a:solidFill>
                <a:latin typeface="Calibri"/>
              </a:rPr>
              <a:t>• Scaling Equation: </a:t>
            </a:r>
            <a:r>
              <a:rPr b="0" sz="950">
                <a:solidFill>
                  <a:srgbClr val="212529"/>
                </a:solidFill>
                <a:latin typeface="Calibri"/>
              </a:rPr>
              <a:t>x_scaled = (x - Q2) / (Q3 - Q1)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50" b="1">
                <a:solidFill>
                  <a:srgbClr val="007A87"/>
                </a:solidFill>
              </a:defRPr>
            </a:pPr>
            <a:r>
              <a:t>SLIDE 8 OF 14: ALGORITHMIC PARADIGMS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Implementation of Three Primary Clustering Paradigms</a:t>
            </a:r>
          </a:p>
        </p:txBody>
      </p:sp>
      <p:pic>
        <p:nvPicPr>
          <p:cNvPr id="5" name="Picture 4" descr="clustering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943600" cy="4937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949440" y="1371600"/>
            <a:ext cx="448056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15544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A2540"/>
                </a:solidFill>
              </a:defRPr>
            </a:pPr>
            <a:r>
              <a:t>Algorithm Implementation Rationale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007A87"/>
                </a:solidFill>
                <a:latin typeface="Calibri"/>
              </a:rPr>
              <a:t>• A. K-Means (Baseline): </a:t>
            </a:r>
            <a:r>
              <a:rPr b="0" sz="950">
                <a:solidFill>
                  <a:srgbClr val="212529"/>
                </a:solidFill>
                <a:latin typeface="Calibri"/>
              </a:rPr>
              <a:t>Partitioning model minimizing WCSS. Evaluated k=2..10 with k-means++ initialization, 10 restarts, and seed=42. Highly interpretable centroids for hospital executives.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007A87"/>
                </a:solidFill>
                <a:latin typeface="Calibri"/>
              </a:rPr>
              <a:t>• B. Agglomerative Hierarchical: </a:t>
            </a:r>
            <a:r>
              <a:rPr b="0" sz="950">
                <a:solidFill>
                  <a:srgbClr val="212529"/>
                </a:solidFill>
                <a:latin typeface="Calibri"/>
              </a:rPr>
              <a:t>Bottom-up tree merge testing Ward (variance minimization), Average, and Complete linkages. Generates dendrograms for natural cluster hierarchies.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007A87"/>
                </a:solidFill>
                <a:latin typeface="Calibri"/>
              </a:rPr>
              <a:t>• C. DBSCAN (Density): </a:t>
            </a:r>
            <a:r>
              <a:rPr b="0" sz="950">
                <a:solidFill>
                  <a:srgbClr val="212529"/>
                </a:solidFill>
                <a:latin typeface="Calibri"/>
              </a:rPr>
              <a:t>Identifies core dense regions and labels sparse anomalies as noise (-1). Tested grid of eps in [0.8, 2.5] and min_samples in [3, 10]. Essential for detecting non-standard hospitals.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50" b="1">
                <a:solidFill>
                  <a:srgbClr val="007A87"/>
                </a:solidFill>
              </a:defRPr>
            </a:pPr>
            <a:r>
              <a:t>SLIDE 9 OF 14: MATHEMATICAL EQUATIONS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Mathematical Formulation &amp; Evaluation Criteria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4754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A2540"/>
                </a:solidFill>
              </a:defRPr>
            </a:pPr>
            <a:r>
              <a:t>1. K-Means Objective Function</a:t>
            </a:r>
          </a:p>
          <a:p>
            <a:pPr>
              <a:spcBef>
                <a:spcPts val="600"/>
              </a:spcBef>
              <a:defRPr sz="1000">
                <a:solidFill>
                  <a:srgbClr val="212529"/>
                </a:solidFill>
              </a:defRPr>
            </a:pPr>
            <a:r>
              <a:t>Minimizes total within-cluster sum of squared Euclidean distances:</a:t>
            </a:r>
            <a:br/>
            <a:br/>
            <a:r>
              <a:t>J = sum_{i=1}^n || x_i - mu_{c_i} ||^2</a:t>
            </a:r>
            <a:br/>
            <a:br/>
            <a:r>
              <a:t>where mu_{c_i} is the centroid of cluster c_i.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21208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08760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A2540"/>
                </a:solidFill>
              </a:defRPr>
            </a:pPr>
            <a:r>
              <a:t>2. Silhouette Coefficient s(i)</a:t>
            </a:r>
          </a:p>
          <a:p>
            <a:pPr>
              <a:spcBef>
                <a:spcPts val="600"/>
              </a:spcBef>
              <a:defRPr sz="1000">
                <a:solidFill>
                  <a:srgbClr val="212529"/>
                </a:solidFill>
              </a:defRPr>
            </a:pPr>
            <a:r>
              <a:t>Evaluates balance between cohesion a(i) and separation b(i):</a:t>
            </a:r>
            <a:br/>
            <a:br/>
            <a:r>
              <a:t>s(i) = [ b(i) - a(i) ] / max( a(i), b(i) )</a:t>
            </a:r>
            <a:br/>
            <a:br/>
            <a:r>
              <a:t>Range: [-1, +1]. Values &gt; 0.5 indicate strong cluster structure.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12064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69080"/>
            <a:ext cx="4754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A2540"/>
                </a:solidFill>
              </a:defRPr>
            </a:pPr>
            <a:r>
              <a:t>3. Davies–Bouldin Index (DB)</a:t>
            </a:r>
          </a:p>
          <a:p>
            <a:pPr>
              <a:spcBef>
                <a:spcPts val="600"/>
              </a:spcBef>
              <a:defRPr sz="1000">
                <a:solidFill>
                  <a:srgbClr val="212529"/>
                </a:solidFill>
              </a:defRPr>
            </a:pPr>
            <a:r>
              <a:t>Computes similarity ratio between cluster dispersions:</a:t>
            </a:r>
            <a:br/>
            <a:br/>
            <a:r>
              <a:t>DB = (1/k) sum_{i=1}^k max_{j != i} [ (s_i + s_j) / d(mu_i, mu_j) ]</a:t>
            </a:r>
            <a:br/>
            <a:br/>
            <a:r>
              <a:t>Lower is better (indicates tighter, well-separated clusters).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931920"/>
            <a:ext cx="521208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069080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A2540"/>
                </a:solidFill>
              </a:defRPr>
            </a:pPr>
            <a:r>
              <a:t>4. Calinski–Harabasz Index (CH)</a:t>
            </a:r>
          </a:p>
          <a:p>
            <a:pPr>
              <a:spcBef>
                <a:spcPts val="600"/>
              </a:spcBef>
              <a:defRPr sz="1000">
                <a:solidFill>
                  <a:srgbClr val="212529"/>
                </a:solidFill>
              </a:defRPr>
            </a:pPr>
            <a:r>
              <a:t>Variance ratio criterion of between-cluster to within-cluster scatter:</a:t>
            </a:r>
            <a:br/>
            <a:br/>
            <a:r>
              <a:t>CH = [ Tr(B_k) / Tr(W_k) ] * [ (n - k) / (k - 1) ]</a:t>
            </a:r>
            <a:br/>
            <a:br/>
            <a:r>
              <a:t>Higher values reflect dense, well-isolated clusters.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50" b="1">
                <a:solidFill>
                  <a:srgbClr val="007A87"/>
                </a:solidFill>
              </a:defRPr>
            </a:pPr>
            <a:r>
              <a:t>SLIDE 10 OF 14: EXPERIMENTAL SETUP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Experimental Environment &amp; Parameter Search Grid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A2540"/>
                </a:solidFill>
              </a:defRPr>
            </a:pPr>
            <a:r>
              <a:t>Execution Environment &amp; Software Stack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007A87"/>
                </a:solidFill>
                <a:latin typeface="Calibri"/>
              </a:rPr>
              <a:t>• Host Platform: </a:t>
            </a:r>
            <a:r>
              <a:rPr b="0" sz="1000">
                <a:solidFill>
                  <a:srgbClr val="212529"/>
                </a:solidFill>
                <a:latin typeface="Calibri"/>
              </a:rPr>
              <a:t>Windows 11 OS / x86_64 Architecture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007A87"/>
                </a:solidFill>
                <a:latin typeface="Calibri"/>
              </a:rPr>
              <a:t>• Python Version: </a:t>
            </a:r>
            <a:r>
              <a:rPr b="0" sz="1000">
                <a:solidFill>
                  <a:srgbClr val="212529"/>
                </a:solidFill>
                <a:latin typeface="Calibri"/>
              </a:rPr>
              <a:t>Python 3.11.9 (64-bit)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007A87"/>
                </a:solidFill>
                <a:latin typeface="Calibri"/>
              </a:rPr>
              <a:t>• Core ML Library: </a:t>
            </a:r>
            <a:r>
              <a:rPr b="0" sz="1000">
                <a:solidFill>
                  <a:srgbClr val="212529"/>
                </a:solidFill>
                <a:latin typeface="Calibri"/>
              </a:rPr>
              <a:t>Scikit-learn 1.8.0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007A87"/>
                </a:solidFill>
                <a:latin typeface="Calibri"/>
              </a:rPr>
              <a:t>• Data Manipulation: </a:t>
            </a:r>
            <a:r>
              <a:rPr b="0" sz="1000">
                <a:solidFill>
                  <a:srgbClr val="212529"/>
                </a:solidFill>
                <a:latin typeface="Calibri"/>
              </a:rPr>
              <a:t>Pandas 3.0.1, NumPy 2.4.2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007A87"/>
                </a:solidFill>
                <a:latin typeface="Calibri"/>
              </a:rPr>
              <a:t>• Visualization: </a:t>
            </a:r>
            <a:r>
              <a:rPr b="0" sz="1000">
                <a:solidFill>
                  <a:srgbClr val="212529"/>
                </a:solidFill>
                <a:latin typeface="Calibri"/>
              </a:rPr>
              <a:t>Matplotlib 3.11.2, Seaborn 0.13.2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007A87"/>
                </a:solidFill>
                <a:latin typeface="Calibri"/>
              </a:rPr>
              <a:t>• Interactive Dashboard: </a:t>
            </a:r>
            <a:r>
              <a:rPr b="0" sz="1000">
                <a:solidFill>
                  <a:srgbClr val="212529"/>
                </a:solidFill>
                <a:latin typeface="Calibri"/>
              </a:rPr>
              <a:t>Streamlit 1.66.1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007A87"/>
                </a:solidFill>
                <a:latin typeface="Calibri"/>
              </a:rPr>
              <a:t>• Reproducibility: </a:t>
            </a:r>
            <a:r>
              <a:rPr b="0" sz="1000">
                <a:solidFill>
                  <a:srgbClr val="212529"/>
                </a:solidFill>
                <a:latin typeface="Calibri"/>
              </a:rPr>
              <a:t>Fixed random_state = 42 across all probabilistic initializations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A2540"/>
                </a:solidFill>
              </a:defRPr>
            </a:pPr>
            <a:r>
              <a:t>Hyperparameter Search Grid (64 Total Runs)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0A2540"/>
                </a:solidFill>
                <a:latin typeface="Calibri"/>
              </a:rPr>
              <a:t>• K-Means Grid (9 Runs): </a:t>
            </a:r>
            <a:r>
              <a:rPr b="0" sz="950">
                <a:solidFill>
                  <a:srgbClr val="212529"/>
                </a:solidFill>
                <a:latin typeface="Calibri"/>
              </a:rPr>
              <a:t>k in {2, 3, 4, 5, 6, 7, 8, 9, 10}
Initialization: k-means++, n_init = 10, max_iter = 300.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0A2540"/>
                </a:solidFill>
                <a:latin typeface="Calibri"/>
              </a:rPr>
              <a:t>• Agglomerative Grid (27 Runs): </a:t>
            </a:r>
            <a:r>
              <a:rPr b="0" sz="950">
                <a:solidFill>
                  <a:srgbClr val="212529"/>
                </a:solidFill>
                <a:latin typeface="Calibri"/>
              </a:rPr>
              <a:t>Linkage in {Ward, Average, Complete}
k in {2, 3, 4, 5, 6, 7, 8, 9, 10}, Distance Metric = Euclidean.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0A2540"/>
                </a:solidFill>
                <a:latin typeface="Calibri"/>
              </a:rPr>
              <a:t>• DBSCAN Grid (28 Runs): </a:t>
            </a:r>
            <a:r>
              <a:rPr b="0" sz="950">
                <a:solidFill>
                  <a:srgbClr val="212529"/>
                </a:solidFill>
                <a:latin typeface="Calibri"/>
              </a:rPr>
              <a:t>Epsilon eps in {0.8, 1.0, 1.2, 1.5, 1.8, 2.0, 2.5}
Min_samples in {3, 5, 8, 10}, Metric = Euclidean.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0A2540"/>
                </a:solidFill>
                <a:latin typeface="Calibri"/>
              </a:rPr>
              <a:t>• Artifact Persistence: </a:t>
            </a:r>
            <a:r>
              <a:rPr b="0" sz="950">
                <a:solidFill>
                  <a:srgbClr val="212529"/>
                </a:solidFill>
                <a:latin typeface="Calibri"/>
              </a:rPr>
              <a:t>All 64 experimental outcomes logged to experiment_results.csv with runtime and cluster size metrics.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50" b="1">
                <a:solidFill>
                  <a:srgbClr val="007A87"/>
                </a:solidFill>
              </a:defRPr>
            </a:pPr>
            <a:r>
              <a:t>SLIDE 11 OF 14: BENCHMARK RESULTS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Comparative Experimental Results Across Algorithms</a:t>
            </a:r>
          </a:p>
        </p:txBody>
      </p:sp>
      <p:pic>
        <p:nvPicPr>
          <p:cNvPr id="5" name="Picture 4" descr="elbow_and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303520" cy="4114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309360" y="1371600"/>
            <a:ext cx="512064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55448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A2540"/>
                </a:solidFill>
              </a:defRPr>
            </a:pPr>
            <a:r>
              <a:t>Quantitative Model Comparison (N=428)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A2540"/>
                </a:solidFill>
                <a:latin typeface="Calibri"/>
              </a:rPr>
              <a:t>K-Means (k=2): </a:t>
            </a:r>
            <a:r>
              <a:rPr b="0" sz="900">
                <a:solidFill>
                  <a:srgbClr val="212529"/>
                </a:solidFill>
                <a:latin typeface="Calibri"/>
              </a:rPr>
              <a:t>Sil = 0.8818  |  DB = 0.3102  |  CH = 950.29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A2540"/>
                </a:solidFill>
                <a:latin typeface="Calibri"/>
              </a:rPr>
              <a:t>K-Means (k=3): </a:t>
            </a:r>
            <a:r>
              <a:rPr b="0" sz="900">
                <a:solidFill>
                  <a:srgbClr val="212529"/>
                </a:solidFill>
                <a:latin typeface="Calibri"/>
              </a:rPr>
              <a:t>Sil = 0.7601  |  DB = 0.4741  |  CH = 709.62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07A87"/>
                </a:solidFill>
                <a:latin typeface="Calibri"/>
              </a:rPr>
              <a:t>K-Means (k=4) [SELECTED]: </a:t>
            </a:r>
            <a:r>
              <a:rPr b="0" sz="900">
                <a:solidFill>
                  <a:srgbClr val="212529"/>
                </a:solidFill>
                <a:latin typeface="Calibri"/>
              </a:rPr>
              <a:t>Sil = 0.6113  |  DB = 0.5768  |  CH = 655.84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A2540"/>
                </a:solidFill>
                <a:latin typeface="Calibri"/>
              </a:rPr>
              <a:t>K-Means (k=5): </a:t>
            </a:r>
            <a:r>
              <a:rPr b="0" sz="900">
                <a:solidFill>
                  <a:srgbClr val="212529"/>
                </a:solidFill>
                <a:latin typeface="Calibri"/>
              </a:rPr>
              <a:t>Sil = 0.5033  |  DB = 0.8612  |  CH = 623.68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A2540"/>
                </a:solidFill>
                <a:latin typeface="Calibri"/>
              </a:rPr>
              <a:t>Agglomerative Ward (k=4): </a:t>
            </a:r>
            <a:r>
              <a:rPr b="0" sz="900">
                <a:solidFill>
                  <a:srgbClr val="212529"/>
                </a:solidFill>
                <a:latin typeface="Calibri"/>
              </a:rPr>
              <a:t>Sil = 0.6708  |  DB = 0.4634  |  CH = 638.75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A2540"/>
                </a:solidFill>
                <a:latin typeface="Calibri"/>
              </a:rPr>
              <a:t>Agglomerative Avg (k=4): </a:t>
            </a:r>
            <a:r>
              <a:rPr b="0" sz="900">
                <a:solidFill>
                  <a:srgbClr val="212529"/>
                </a:solidFill>
                <a:latin typeface="Calibri"/>
              </a:rPr>
              <a:t>Sil = 0.7005  |  DB = 0.4660  |  CH = 524.36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A2540"/>
                </a:solidFill>
                <a:latin typeface="Calibri"/>
              </a:rPr>
              <a:t>DBSCAN (eps=1.8, min=3): </a:t>
            </a:r>
            <a:r>
              <a:rPr b="0" sz="900">
                <a:solidFill>
                  <a:srgbClr val="212529"/>
                </a:solidFill>
                <a:latin typeface="Calibri"/>
              </a:rPr>
              <a:t>Sil = 0.9352  |  DB = 0.0615  |  Noise = 10.51%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B42814"/>
                </a:solidFill>
                <a:latin typeface="Calibri"/>
              </a:rPr>
              <a:t>Selection Rationale: </a:t>
            </a:r>
            <a:r>
              <a:rPr b="0" sz="900">
                <a:solidFill>
                  <a:srgbClr val="212529"/>
                </a:solidFill>
                <a:latin typeface="Calibri"/>
              </a:rPr>
              <a:t>Although k=2 scored higher raw silhouette values by creating one 97% mega-cluster, K-Means at k=4 achieves the optimal balance of statistical cohesion and operationally actionable facility tiers.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50" b="1">
                <a:solidFill>
                  <a:srgbClr val="007A87"/>
                </a:solidFill>
              </a:defRPr>
            </a:pPr>
            <a:r>
              <a:t>SLIDE 12 OF 14: CLUSTER PROFILES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Discovered Healthcare Facility Archetypes (k=4)</a:t>
            </a:r>
          </a:p>
        </p:txBody>
      </p:sp>
      <p:pic>
        <p:nvPicPr>
          <p:cNvPr id="5" name="Picture 4" descr="pca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303520" cy="4114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309360" y="1371600"/>
            <a:ext cx="512064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55448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A2540"/>
                </a:solidFill>
              </a:defRPr>
            </a:pPr>
            <a:r>
              <a:t>Four Evidence-Based Facility Archetypes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07A87"/>
                </a:solidFill>
                <a:latin typeface="Calibri"/>
              </a:rPr>
              <a:t>Cluster 0: General Acute Hospitals (N=388, 90.7%)
</a:t>
            </a:r>
            <a:r>
              <a:rPr b="0" sz="850">
                <a:solidFill>
                  <a:srgbClr val="212529"/>
                </a:solidFill>
                <a:latin typeface="Calibri"/>
              </a:rPr>
              <a:t>• Median Beds: 204.5  |  Occupancy: 65.3%  |  ALOS: 5.7 days
• Median Operating Margin: +0.93% (slim break-even)
• Core community acute care relying on high patient turnover.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07A87"/>
                </a:solidFill>
                <a:latin typeface="Calibri"/>
              </a:rPr>
              <a:t>Cluster 1: State / Long-Term Inst. (N=8, 1.9%)
</a:t>
            </a:r>
            <a:r>
              <a:rPr b="0" sz="850">
                <a:solidFill>
                  <a:srgbClr val="212529"/>
                </a:solidFill>
                <a:latin typeface="Calibri"/>
              </a:rPr>
              <a:t>• Median Beds: 795.5  |  Occupancy: 92.0%  |  ALOS: 403 days
• Median Operating Margin: -48.20% (operating deficit)
• State psychiatric/long-term facilities funded via appropriations.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07A87"/>
                </a:solidFill>
                <a:latin typeface="Calibri"/>
              </a:rPr>
              <a:t>Cluster 2: Subacute &amp; Rehab Centers (N=12, 2.8%)
</a:t>
            </a:r>
            <a:r>
              <a:rPr b="0" sz="850">
                <a:solidFill>
                  <a:srgbClr val="212529"/>
                </a:solidFill>
                <a:latin typeface="Calibri"/>
              </a:rPr>
              <a:t>• Median Beds: 167.9  |  Occupancy: 74.4%  |  ALOS: 122 days
• Extended rehabilitation and chronic care recovery.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07A87"/>
                </a:solidFill>
                <a:latin typeface="Calibri"/>
              </a:rPr>
              <a:t>Cluster 3: Specialized Surgical Centers (N=20, 4.7%)
</a:t>
            </a:r>
            <a:r>
              <a:rPr b="0" sz="850">
                <a:solidFill>
                  <a:srgbClr val="212529"/>
                </a:solidFill>
                <a:latin typeface="Calibri"/>
              </a:rPr>
              <a:t>• Median Beds: 40.1  |  Occupancy: 33.0%  |  ALOS: 3.6 days
• High revenue per bed: $3,575,897  |  Margin: +3.12%
• Boutique elective surgical facilities with rapid capital turnover.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50" b="1">
                <a:solidFill>
                  <a:srgbClr val="007A87"/>
                </a:solidFill>
              </a:defRPr>
            </a:pPr>
            <a:r>
              <a:t>SLIDE 13 OF 14: DASHBOARD DEMO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Interactive Analytics Dashboard (Streamlit)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69848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10149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A2540"/>
                </a:solidFill>
              </a:defRPr>
            </a:pPr>
            <a:r>
              <a:t>Streamlit Analytics Dashboard Capabilities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07A87"/>
                </a:solidFill>
                <a:latin typeface="Calibri"/>
              </a:rPr>
              <a:t>• Section A: Dataset Overview: </a:t>
            </a:r>
            <a:r>
              <a:rPr b="0" sz="1050">
                <a:solidFill>
                  <a:srgbClr val="212529"/>
                </a:solidFill>
                <a:latin typeface="Calibri"/>
              </a:rPr>
              <a:t>Live inspection of 2,192 raw records and 428 cleaned annual facilities with data quality checklists.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07A87"/>
                </a:solidFill>
                <a:latin typeface="Calibri"/>
              </a:rPr>
              <a:t>• Section B: Financial Performance: </a:t>
            </a:r>
            <a:r>
              <a:rPr b="0" sz="1050">
                <a:solidFill>
                  <a:srgbClr val="212529"/>
                </a:solidFill>
                <a:latin typeface="Calibri"/>
              </a:rPr>
              <a:t>Operating margin distributions, expense-to-revenue ratio scatter plots, and cost-per-bed tiering.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07A87"/>
                </a:solidFill>
                <a:latin typeface="Calibri"/>
              </a:rPr>
              <a:t>• Section C: Resource Utilization: </a:t>
            </a:r>
            <a:r>
              <a:rPr b="0" sz="1050">
                <a:solidFill>
                  <a:srgbClr val="212529"/>
                </a:solidFill>
                <a:latin typeface="Calibri"/>
              </a:rPr>
              <a:t>Bed occupancy boxplots, average length of stay distributions, and staffed bed readiness.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07A87"/>
                </a:solidFill>
                <a:latin typeface="Calibri"/>
              </a:rPr>
              <a:t>• Section D: Cluster Explorer: </a:t>
            </a:r>
            <a:r>
              <a:rPr b="0" sz="1050">
                <a:solidFill>
                  <a:srgbClr val="212529"/>
                </a:solidFill>
                <a:latin typeface="Calibri"/>
              </a:rPr>
              <a:t>Interactive 2D PCA cluster projection, dynamic county/cluster filters, hospital search, and CSV export.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07A87"/>
                </a:solidFill>
                <a:latin typeface="Calibri"/>
              </a:rPr>
              <a:t>• Section E: Model Comparison: </a:t>
            </a:r>
            <a:r>
              <a:rPr b="0" sz="1050">
                <a:solidFill>
                  <a:srgbClr val="212529"/>
                </a:solidFill>
                <a:latin typeface="Calibri"/>
              </a:rPr>
              <a:t>Full experimental results table comparing K-Means, Agglomerative, and DBSCAN across all metrics.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07A87"/>
                </a:solidFill>
                <a:latin typeface="Calibri"/>
              </a:rPr>
              <a:t>• Section F: Insights &amp; Limitations: </a:t>
            </a:r>
            <a:r>
              <a:rPr b="0" sz="1050">
                <a:solidFill>
                  <a:srgbClr val="212529"/>
                </a:solidFill>
                <a:latin typeface="Calibri"/>
              </a:rPr>
              <a:t>Administrative takeaways, clinical non-causality warnings, and academic integrity statements.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07A87"/>
                </a:solidFill>
                <a:latin typeface="Calibri"/>
              </a:rPr>
              <a:t>• Execution Command: </a:t>
            </a:r>
            <a:r>
              <a:rPr b="0" sz="1050">
                <a:solidFill>
                  <a:srgbClr val="212529"/>
                </a:solidFill>
                <a:latin typeface="Calibri"/>
              </a:rPr>
              <a:t>streamlit run app.py (launches local interactive web application on port 8501).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50" b="1">
                <a:solidFill>
                  <a:srgbClr val="007A87"/>
                </a:solidFill>
              </a:defRPr>
            </a:pPr>
            <a:r>
              <a:t>SLIDE 14 OF 14: CONCLUSION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Conclusion, Methodological Limitations &amp; Future Scope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A2540"/>
                </a:solidFill>
              </a:defRPr>
            </a:pPr>
            <a:r>
              <a:t>Key Project Conclusions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007A87"/>
                </a:solidFill>
                <a:latin typeface="Calibri"/>
              </a:rPr>
              <a:t>• Rigorous End-to-End Pipeline: </a:t>
            </a:r>
            <a:r>
              <a:rPr b="0" sz="950">
                <a:solidFill>
                  <a:srgbClr val="212529"/>
                </a:solidFill>
                <a:latin typeface="Calibri"/>
              </a:rPr>
              <a:t>Successfully executed data hygiene, 8-feature engineering, 64 clustering experiments, and dashboard deployment.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007A87"/>
                </a:solidFill>
                <a:latin typeface="Calibri"/>
              </a:rPr>
              <a:t>• Empirical Model Selection: </a:t>
            </a:r>
            <a:r>
              <a:rPr b="0" sz="950">
                <a:solidFill>
                  <a:srgbClr val="212529"/>
                </a:solidFill>
                <a:latin typeface="Calibri"/>
              </a:rPr>
              <a:t>K-Means at k=4 proved mathematically sound (Sil=0.611) and operationally interpretable across California facilities.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007A87"/>
                </a:solidFill>
                <a:latin typeface="Calibri"/>
              </a:rPr>
              <a:t>• Actionable Tiers: </a:t>
            </a:r>
            <a:r>
              <a:rPr b="0" sz="950">
                <a:solidFill>
                  <a:srgbClr val="212529"/>
                </a:solidFill>
                <a:latin typeface="Calibri"/>
              </a:rPr>
              <a:t>Demonstrated that 90.7% of acute hospitals operate near 0.9% margins, while specialized surgical centers generate triple the capital turnover per bed.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007A87"/>
                </a:solidFill>
                <a:latin typeface="Calibri"/>
              </a:rPr>
              <a:t>• Reproducibility: </a:t>
            </a:r>
            <a:r>
              <a:rPr b="0" sz="950">
                <a:solidFill>
                  <a:srgbClr val="212529"/>
                </a:solidFill>
                <a:latin typeface="Calibri"/>
              </a:rPr>
              <a:t>Complete repository prepared with fixed seeds, clean modular code, and verifiable execution scripts.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A2540"/>
                </a:solidFill>
              </a:defRPr>
            </a:pPr>
            <a:r>
              <a:t>Limitations &amp; Future Scope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B42814"/>
                </a:solidFill>
                <a:latin typeface="Calibri"/>
              </a:rPr>
              <a:t>• Non-Causal Methodology: </a:t>
            </a:r>
            <a:r>
              <a:rPr b="0" sz="950">
                <a:solidFill>
                  <a:srgbClr val="212529"/>
                </a:solidFill>
                <a:latin typeface="Calibri"/>
              </a:rPr>
              <a:t>Unsupervised clustering discovers geometrical associations; it does NOT imply clinical quality or patient care outcomes.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B42814"/>
                </a:solidFill>
                <a:latin typeface="Calibri"/>
              </a:rPr>
              <a:t>• Governmental Accounting Variance: </a:t>
            </a:r>
            <a:r>
              <a:rPr b="0" sz="950">
                <a:solidFill>
                  <a:srgbClr val="212529"/>
                </a:solidFill>
                <a:latin typeface="Calibri"/>
              </a:rPr>
              <a:t>State and county hospitals utilize governmental fund accounting, producing structural accounting deficits.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B42814"/>
                </a:solidFill>
                <a:latin typeface="Calibri"/>
              </a:rPr>
              <a:t>• Lack of Clinical Acuity: </a:t>
            </a:r>
            <a:r>
              <a:rPr b="0" sz="950">
                <a:solidFill>
                  <a:srgbClr val="212529"/>
                </a:solidFill>
                <a:latin typeface="Calibri"/>
              </a:rPr>
              <a:t>State financial dataset does not record patient-level Case Mix Index (CMI) or clinical severity.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B42814"/>
                </a:solidFill>
                <a:latin typeface="Calibri"/>
              </a:rPr>
              <a:t>• Future Scope: </a:t>
            </a:r>
            <a:r>
              <a:rPr b="0" sz="950">
                <a:solidFill>
                  <a:srgbClr val="212529"/>
                </a:solidFill>
                <a:latin typeface="Calibri"/>
              </a:rPr>
              <a:t>Incorporate multi-year Markov chain transition models to track facility cluster migration across economic cycles.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